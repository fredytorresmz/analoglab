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Bienvenida a los estudiantes. Hoy damos un salto definitivo en la asignatura: dejamos atrás el transistor bipolar (BJT) para estudiar el dispositivo que hace posible la tecnología contemporánea: el MOSFET. Integramos el rigor analítico de Boylestad con la intuición práctica y de laboratorio de Malvino.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Explicar la analogía de la válvula de agua de Malvino: En el BJT gastamos corriente para controlar corriente. En el FET la compuerta está aislada por vidrio (SiO2), así que la corriente de compuerta IG es cero en DC. Esto es lo que permite que un microcontrolador maneje motores sin sobrecargarse.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Resaltar el concepto de 'Embalamiento térmico': Si un BJT se calienta, conduce más corriente y se puede destruir. El MOSFET de potencia, al calentarse, aumenta su resistencia RDS(on), autoestabilizándose. Por eso los inversores solares y variadores de frecuencia usan MOSFETs e IGBTs.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Hacer hincapié en la ventaja de seguridad del E-MOSFET: Al no conducir con V_GS = 0 V, si un cable de compuerta se desconecta o la tarjeta se desenergiza, el circuito se queda apagado. En cambio con un JFET o D-MOSFET, con 0 V queda totalmente conduciendo, lo que en potencia causaría un desastre.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Mencionar la advertencia de Malvino sobre el grosor del óxido: Menos de 100 nanómetros significa que una descarga electrostática humana de 2000 V genera campos superiores a 10 millones de V/cm, perforando el dieléctrico irreversiblemente. En el laboratorio del ITM siempre usamos manilla antiestática o descargamos tocando tierra antes de manipular MOSFETs.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 para los estudiantes en el aula: ¿Por qué se llama 'capa de inversión'? Respuesta: Porque el silicio era originalmente tipo P, pero bajo la compuerta la población de electrones supera a los huecos, invirtiendo la polaridad eléctrica localmente a tipo 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es el concepto que más cuesta a los estudiantes: Explicarles que 'saturar' en MOSFET significa que la corriente llegó al límite superior plano que le permite ese voltaje V_GS específico (estrangulamiento). Para que funcione como interruptor cerrado, necesitamos estar en la región Óhmica con el menor V_DS posible.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Mostrar en la gráfica cómo la curva de transferencia de la izquierda engendra directamente los niveles horizontales de saturación de la derecha. Si V_GS aumenta, el nivel de corriente saturada sube de manera cuadrática.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Atención con el diodo de cuerpo (Body Diode): Muchos estudiantes cometen el error de conectar el MOSFET al revés en DC, y la carga queda siempre encendida a través del diodo parásito interno. Es vital explicar cómo se forma y cómo aprovecharlo o protegerlo.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Subrayar a los estudiantes que no teman a los resistores de 10 Megao疗mios en compuerta: en BJT eso sería una locura porque apagaría el transistor por falta de corriente, pero en MOSFET es la norma estándar industrial para ahorrar energía.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Guiar a los estudiantes en las unidades: Noten que al usar k en mA/V^2 y R_S en kΩ, el producto I_D · R_S da voltios directamente sin necesidad de arrastrar potencias de diez confusas. Esto evita el 90% de los errores de calculadora en los parciales.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Enseñar el criterio de descarte: Las matemáticas dan dos raíces, pero la física solo admite una. La regla de oro es: Calcule V_GS con cada raíz; aquella que dé menor que V_GS(th) es ficticia y se descarta de inmediato.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demostración matemática le encanta a los estudiantes porque demuestra la elegancia del análisis circuital: simplemente con conectar R_G entre Drenador y Compuerta, el circuito garantiza por sí mismo que el punto Q esté siempre en saturación.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es el caso que salva proyectos de grado y concursos de robótica: Muchos estudiantes conectan un motor a un microcontrolador usando un IRF540N y dicen 'profesor, el transistor no sirve, calienta demasiado'. La razón es que el IRF540N no es Logic-Level. Con 3.3V apenas entra en la zona lineal. Usar siempre IRLZ44N.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comparación entre 12 Watts y 0.15 Watts habla por sí sola: es una reducción de casi 100 veces en disipación de calor. Esta es la razón de ingeniería pura por la cual los autos eléctricos de Tesla o BYD usan inversores basados en MOSFETs y módulos de SiC.</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Cierre de la sesión. Motivar a los grupos a revisar las hojas de datos de los tres componentes sugeridos para el taller reto antes de entrar al laboratorio.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B3D"/>
          </a:solidFill>
          <a:ln>
            <a:solidFill>
              <a:srgbClr val="0B1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731520"/>
            <a:ext cx="5029200" cy="822960"/>
          </a:xfrm>
          <a:prstGeom prst="roundRect">
            <a:avLst/>
          </a:prstGeom>
          <a:solidFill>
            <a:srgbClr val="0E2248"/>
          </a:solidFill>
          <a:ln w="19050">
            <a:solidFill>
              <a:srgbClr val="00C0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777240"/>
            <a:ext cx="4846320" cy="731520"/>
          </a:xfrm>
          <a:prstGeom prst="rect">
            <a:avLst/>
          </a:prstGeom>
          <a:noFill/>
        </p:spPr>
        <p:txBody>
          <a:bodyPr wrap="none">
            <a:spAutoFit/>
          </a:bodyPr>
          <a:lstStyle/>
          <a:p>
            <a:pPr>
              <a:defRPr b="1" sz="1400">
                <a:solidFill>
                  <a:srgbClr val="FFFFFF"/>
                </a:solidFill>
              </a:defRPr>
            </a:pPr>
            <a:r>
              <a:t>INSTITUCIÓN UNIVERSITARIA ITM</a:t>
            </a:r>
          </a:p>
          <a:p>
            <a:pPr>
              <a:defRPr sz="1100">
                <a:solidFill>
                  <a:srgbClr val="FFB800"/>
                </a:solidFill>
              </a:defRPr>
            </a:pPr>
            <a:r>
              <a:t>Reacreditada en Alta Calidad  •  Facultad de Ingenierías</a:t>
            </a:r>
          </a:p>
        </p:txBody>
      </p:sp>
      <p:sp>
        <p:nvSpPr>
          <p:cNvPr id="5" name="Rounded Rectangle 4"/>
          <p:cNvSpPr/>
          <p:nvPr/>
        </p:nvSpPr>
        <p:spPr>
          <a:xfrm>
            <a:off x="731520" y="1828800"/>
            <a:ext cx="10728655" cy="3291840"/>
          </a:xfrm>
          <a:prstGeom prst="roundRect">
            <a:avLst/>
          </a:prstGeom>
          <a:solidFill>
            <a:srgbClr val="10244B"/>
          </a:solidFill>
          <a:ln w="25400">
            <a:solidFill>
              <a:srgbClr val="FFB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103120"/>
            <a:ext cx="9966960" cy="2743200"/>
          </a:xfrm>
          <a:prstGeom prst="rect">
            <a:avLst/>
          </a:prstGeom>
          <a:noFill/>
        </p:spPr>
        <p:txBody>
          <a:bodyPr wrap="square">
            <a:spAutoFit/>
          </a:bodyPr>
          <a:lstStyle/>
          <a:p>
            <a:pPr>
              <a:defRPr sz="2800" b="1">
                <a:solidFill>
                  <a:srgbClr val="FFB800"/>
                </a:solidFill>
              </a:defRPr>
            </a:pPr>
            <a:r>
              <a:t>TRANSISTORES DE EFECTO DE CAMPO (FET)</a:t>
            </a:r>
          </a:p>
          <a:p>
            <a:pPr>
              <a:defRPr sz="2000" b="1">
                <a:solidFill>
                  <a:srgbClr val="FFFFFF"/>
                </a:solidFill>
              </a:defRPr>
            </a:pPr>
            <a:r>
              <a:t>Especialidad: El Transistor MOSFET de Enriquecimiento (E-MOSFET)</a:t>
            </a:r>
          </a:p>
          <a:p>
            <a:br/>
            <a:pPr>
              <a:defRPr sz="1300">
                <a:solidFill>
                  <a:srgbClr val="00C0F3"/>
                </a:solidFill>
              </a:defRPr>
            </a:pPr>
            <a:r>
              <a:t>Física del Dispositivo  •  Regiones de Operación  •  Análisis y Polarización DC  •  Aplicaciones Industriales</a:t>
            </a:r>
          </a:p>
          <a:p>
            <a:br/>
            <a:pPr>
              <a:defRPr sz="1200" i="1">
                <a:solidFill>
                  <a:srgbClr val="CBD5E1"/>
                </a:solidFill>
              </a:defRPr>
            </a:pPr>
            <a:r>
              <a:t>Marco de Referencia Bibliográfico: Boylestad &amp; Nashelsky  |  Albert Malvino &amp; David Bates</a:t>
            </a:r>
          </a:p>
        </p:txBody>
      </p:sp>
      <p:sp>
        <p:nvSpPr>
          <p:cNvPr id="7" name="Rounded Rectangle 6"/>
          <p:cNvSpPr/>
          <p:nvPr/>
        </p:nvSpPr>
        <p:spPr>
          <a:xfrm>
            <a:off x="731520" y="5303520"/>
            <a:ext cx="10728655" cy="1005840"/>
          </a:xfrm>
          <a:prstGeom prst="roundRect">
            <a:avLst/>
          </a:prstGeom>
          <a:solidFill>
            <a:srgbClr val="0E1E40"/>
          </a:solidFill>
          <a:ln w="19050">
            <a:solidFill>
              <a:srgbClr val="00C0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5349240"/>
            <a:ext cx="10149840" cy="822960"/>
          </a:xfrm>
          <a:prstGeom prst="rect">
            <a:avLst/>
          </a:prstGeom>
          <a:noFill/>
        </p:spPr>
        <p:txBody>
          <a:bodyPr wrap="none">
            <a:spAutoFit/>
          </a:bodyPr>
          <a:lstStyle/>
          <a:p>
            <a:pPr>
              <a:defRPr b="1" sz="1300">
                <a:solidFill>
                  <a:srgbClr val="FFFFFF"/>
                </a:solidFill>
              </a:defRPr>
            </a:pPr>
            <a:r>
              <a:t>Asignatura: Electrónica Analógica y Laboratorio</a:t>
            </a:r>
          </a:p>
          <a:p>
            <a:pPr>
              <a:defRPr sz="1200">
                <a:solidFill>
                  <a:srgbClr val="CBD5E1"/>
                </a:solidFill>
              </a:defRPr>
            </a:pPr>
            <a:r>
              <a:t>Docente: Ing. Fredy Andrés Torres Muñoz  |  Experiencia Senior en Ingeniería y Docencia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B3D"/>
          </a:solidFill>
          <a:ln>
            <a:solidFill>
              <a:srgbClr val="0B1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515600" cy="320040"/>
          </a:xfrm>
          <a:prstGeom prst="rect">
            <a:avLst/>
          </a:prstGeom>
          <a:noFill/>
        </p:spPr>
        <p:txBody>
          <a:bodyPr wrap="square">
            <a:spAutoFit/>
          </a:bodyPr>
          <a:lstStyle/>
          <a:p>
            <a:pPr>
              <a:defRPr sz="1100" b="1">
                <a:solidFill>
                  <a:srgbClr val="FFB800"/>
                </a:solidFill>
                <a:latin typeface="Arial"/>
              </a:defRPr>
            </a:pPr>
            <a:r>
              <a:t>FUNDAMENTOS CONCEPTUALES</a:t>
            </a:r>
          </a:p>
        </p:txBody>
      </p:sp>
      <p:sp>
        <p:nvSpPr>
          <p:cNvPr id="4" name="TextBox 3"/>
          <p:cNvSpPr txBox="1"/>
          <p:nvPr/>
        </p:nvSpPr>
        <p:spPr>
          <a:xfrm>
            <a:off x="731520" y="594360"/>
            <a:ext cx="10515600" cy="685800"/>
          </a:xfrm>
          <a:prstGeom prst="rect">
            <a:avLst/>
          </a:prstGeom>
          <a:noFill/>
        </p:spPr>
        <p:txBody>
          <a:bodyPr wrap="square">
            <a:spAutoFit/>
          </a:bodyPr>
          <a:lstStyle/>
          <a:p>
            <a:pPr>
              <a:defRPr sz="2200" b="1">
                <a:solidFill>
                  <a:srgbClr val="FFFFFF"/>
                </a:solidFill>
                <a:latin typeface="Arial"/>
              </a:defRPr>
            </a:pPr>
            <a:r>
              <a:t>1. El Gran Cambio de Paradigma: Del BJT al FET</a:t>
            </a:r>
          </a:p>
        </p:txBody>
      </p:sp>
      <p:sp>
        <p:nvSpPr>
          <p:cNvPr id="5" name="Rectangle 4"/>
          <p:cNvSpPr/>
          <p:nvPr/>
        </p:nvSpPr>
        <p:spPr>
          <a:xfrm>
            <a:off x="0" y="6565392"/>
            <a:ext cx="7772400" cy="54864"/>
          </a:xfrm>
          <a:prstGeom prst="rect">
            <a:avLst/>
          </a:prstGeom>
          <a:solidFill>
            <a:srgbClr val="00C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0" y="6565392"/>
            <a:ext cx="4419295" cy="54864"/>
          </a:xfrm>
          <a:prstGeom prst="rect">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601968"/>
            <a:ext cx="10698480" cy="228600"/>
          </a:xfrm>
          <a:prstGeom prst="rect">
            <a:avLst/>
          </a:prstGeom>
          <a:noFill/>
        </p:spPr>
        <p:txBody>
          <a:bodyPr wrap="none">
            <a:spAutoFit/>
          </a:bodyPr>
          <a:lstStyle/>
          <a:p>
            <a:pPr>
              <a:defRPr sz="900">
                <a:solidFill>
                  <a:srgbClr val="94A3B8"/>
                </a:solidFill>
                <a:latin typeface="Arial"/>
              </a:defRPr>
            </a:pPr>
            <a:r>
              <a:t>Institución Universitaria ITM  |  Electrónica Analógica y Laboratorio  |  Docente: Fredy Andrés Torres Muñoz  |  www.itm.edu.co</a:t>
            </a:r>
          </a:p>
        </p:txBody>
      </p:sp>
      <p:sp>
        <p:nvSpPr>
          <p:cNvPr id="8" name="Rounded Rectangle 7"/>
          <p:cNvSpPr/>
          <p:nvPr/>
        </p:nvSpPr>
        <p:spPr>
          <a:xfrm>
            <a:off x="731520" y="1463040"/>
            <a:ext cx="5120640" cy="4846320"/>
          </a:xfrm>
          <a:prstGeom prst="roundRect">
            <a:avLst/>
          </a:prstGeom>
          <a:solidFill>
            <a:srgbClr val="12264D"/>
          </a:solidFill>
          <a:ln w="1905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45920"/>
            <a:ext cx="4754880" cy="4389120"/>
          </a:xfrm>
          <a:prstGeom prst="rect">
            <a:avLst/>
          </a:prstGeom>
          <a:noFill/>
        </p:spPr>
        <p:txBody>
          <a:bodyPr wrap="square">
            <a:spAutoFit/>
          </a:bodyPr>
          <a:lstStyle/>
          <a:p>
            <a:pPr>
              <a:defRPr sz="1600" b="1">
                <a:solidFill>
                  <a:srgbClr val="F87171"/>
                </a:solidFill>
              </a:defRPr>
            </a:pPr>
            <a:r>
              <a:t>TRANSISTOR BJT (Control por Corriente)</a:t>
            </a:r>
          </a:p>
          <a:p>
            <a:pPr>
              <a:defRPr sz="1200">
                <a:solidFill>
                  <a:srgbClr val="CBD5E1"/>
                </a:solidFill>
              </a:defRPr>
            </a:pPr>
            <a:r>
              <a:t>• Mecanismo: Requiere flujo continuo de corriente en la base (I_B) para encender o amplificar.</a:t>
            </a:r>
          </a:p>
          <a:p>
            <a:pPr>
              <a:defRPr sz="1200">
                <a:solidFill>
                  <a:srgbClr val="CBD5E1"/>
                </a:solidFill>
              </a:defRPr>
            </a:pPr>
            <a:r>
              <a:t>• Ecuación: I_C = β · I_B  |  Exponencial: I_C = I_S · exp(V_BE / V_T)</a:t>
            </a:r>
          </a:p>
          <a:p>
            <a:pPr>
              <a:defRPr sz="1200">
                <a:solidFill>
                  <a:srgbClr val="CBD5E1"/>
                </a:solidFill>
              </a:defRPr>
            </a:pPr>
            <a:r>
              <a:t>• Impedancia de entrada: Baja / Media (Z_in ~ 1 kΩ - 50 kΩ). Genera efecto de carga en la etapa previa.</a:t>
            </a:r>
          </a:p>
          <a:p>
            <a:pPr>
              <a:defRPr sz="1200">
                <a:solidFill>
                  <a:srgbClr val="CBD5E1"/>
                </a:solidFill>
              </a:defRPr>
            </a:pPr>
            <a:r>
              <a:t>• Consumo estático: Disipa potencia constante en la base solo para mantener la conducción.</a:t>
            </a:r>
          </a:p>
          <a:p>
            <a:pPr>
              <a:defRPr sz="1200">
                <a:solidFill>
                  <a:srgbClr val="CBD5E1"/>
                </a:solidFill>
              </a:defRPr>
            </a:pPr>
            <a:r>
              <a:t>• Analogía de Malvino: Como una palanca o válvula de resorte: exige fuerza mecánica continua para permanecer abierta.</a:t>
            </a:r>
          </a:p>
        </p:txBody>
      </p:sp>
      <p:sp>
        <p:nvSpPr>
          <p:cNvPr id="10" name="Rounded Rectangle 9"/>
          <p:cNvSpPr/>
          <p:nvPr/>
        </p:nvSpPr>
        <p:spPr>
          <a:xfrm>
            <a:off x="6217920" y="1463040"/>
            <a:ext cx="5212080" cy="4846320"/>
          </a:xfrm>
          <a:prstGeom prst="roundRect">
            <a:avLst/>
          </a:prstGeom>
          <a:solidFill>
            <a:srgbClr val="12264D"/>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45920"/>
            <a:ext cx="4846320" cy="4389120"/>
          </a:xfrm>
          <a:prstGeom prst="rect">
            <a:avLst/>
          </a:prstGeom>
          <a:noFill/>
        </p:spPr>
        <p:txBody>
          <a:bodyPr wrap="square">
            <a:spAutoFit/>
          </a:bodyPr>
          <a:lstStyle/>
          <a:p>
            <a:pPr>
              <a:defRPr sz="1600" b="1">
                <a:solidFill>
                  <a:srgbClr val="34D399"/>
                </a:solidFill>
              </a:defRPr>
            </a:pPr>
            <a:r>
              <a:t>TRANSISTOR FET / MOSFET (Control por Voltaje)</a:t>
            </a:r>
          </a:p>
          <a:p>
            <a:pPr>
              <a:defRPr sz="1200">
                <a:solidFill>
                  <a:srgbClr val="CBD5E1"/>
                </a:solidFill>
              </a:defRPr>
            </a:pPr>
            <a:r>
              <a:t>• Mecanismo: Control electrostático: el voltaje compuerta-fuente (V_GS) modula el canal sin corriente.</a:t>
            </a:r>
          </a:p>
          <a:p>
            <a:pPr>
              <a:defRPr sz="1200">
                <a:solidFill>
                  <a:srgbClr val="CBD5E1"/>
                </a:solidFill>
              </a:defRPr>
            </a:pPr>
            <a:r>
              <a:t>• Ecuación: I_G ≈ 0 A  |  I_D = k · (V_GS - V_GS(th))²  (Ecuación Cuadrática)</a:t>
            </a:r>
          </a:p>
          <a:p>
            <a:pPr>
              <a:defRPr sz="1200">
                <a:solidFill>
                  <a:srgbClr val="CBD5E1"/>
                </a:solidFill>
              </a:defRPr>
            </a:pPr>
            <a:r>
              <a:t>• Impedancia de entrada: Extremadamente alta (Z_in ~ 10¹² Ω a 10¹⁴ Ω). Aislamiento galvánico de compuerta.</a:t>
            </a:r>
          </a:p>
          <a:p>
            <a:pPr>
              <a:defRPr sz="1200">
                <a:solidFill>
                  <a:srgbClr val="CBD5E1"/>
                </a:solidFill>
              </a:defRPr>
            </a:pPr>
            <a:r>
              <a:t>• Consumo estático: Prácticamente nulo en DC. Ideal para lógica CMOS y procesadores modernos.</a:t>
            </a:r>
          </a:p>
          <a:p>
            <a:pPr>
              <a:defRPr sz="1200">
                <a:solidFill>
                  <a:srgbClr val="CBD5E1"/>
                </a:solidFill>
              </a:defRPr>
            </a:pPr>
            <a:r>
              <a:t>• Analogía de Malvino: Como una llave de paso con émbolo electrostático: no gasta líquido por la llave para abrir el tubo.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B3D"/>
          </a:solidFill>
          <a:ln>
            <a:solidFill>
              <a:srgbClr val="0B1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515600" cy="320040"/>
          </a:xfrm>
          <a:prstGeom prst="rect">
            <a:avLst/>
          </a:prstGeom>
          <a:noFill/>
        </p:spPr>
        <p:txBody>
          <a:bodyPr wrap="square">
            <a:spAutoFit/>
          </a:bodyPr>
          <a:lstStyle/>
          <a:p>
            <a:pPr>
              <a:defRPr sz="1100" b="1">
                <a:solidFill>
                  <a:srgbClr val="FFB800"/>
                </a:solidFill>
                <a:latin typeface="Arial"/>
              </a:defRPr>
            </a:pPr>
            <a:r>
              <a:t>TABLA MAESTRA DE DISEÑO</a:t>
            </a:r>
          </a:p>
        </p:txBody>
      </p:sp>
      <p:sp>
        <p:nvSpPr>
          <p:cNvPr id="4" name="TextBox 3"/>
          <p:cNvSpPr txBox="1"/>
          <p:nvPr/>
        </p:nvSpPr>
        <p:spPr>
          <a:xfrm>
            <a:off x="731520" y="594360"/>
            <a:ext cx="10515600" cy="685800"/>
          </a:xfrm>
          <a:prstGeom prst="rect">
            <a:avLst/>
          </a:prstGeom>
          <a:noFill/>
        </p:spPr>
        <p:txBody>
          <a:bodyPr wrap="square">
            <a:spAutoFit/>
          </a:bodyPr>
          <a:lstStyle/>
          <a:p>
            <a:pPr>
              <a:defRPr sz="2200" b="1">
                <a:solidFill>
                  <a:srgbClr val="FFFFFF"/>
                </a:solidFill>
                <a:latin typeface="Arial"/>
              </a:defRPr>
            </a:pPr>
            <a:r>
              <a:t>2. Comparativa de Ingeniería: BJT frente a FET</a:t>
            </a:r>
          </a:p>
        </p:txBody>
      </p:sp>
      <p:sp>
        <p:nvSpPr>
          <p:cNvPr id="5" name="Rectangle 4"/>
          <p:cNvSpPr/>
          <p:nvPr/>
        </p:nvSpPr>
        <p:spPr>
          <a:xfrm>
            <a:off x="0" y="6565392"/>
            <a:ext cx="7772400" cy="54864"/>
          </a:xfrm>
          <a:prstGeom prst="rect">
            <a:avLst/>
          </a:prstGeom>
          <a:solidFill>
            <a:srgbClr val="00C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0" y="6565392"/>
            <a:ext cx="4419295" cy="54864"/>
          </a:xfrm>
          <a:prstGeom prst="rect">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601968"/>
            <a:ext cx="10698480" cy="228600"/>
          </a:xfrm>
          <a:prstGeom prst="rect">
            <a:avLst/>
          </a:prstGeom>
          <a:noFill/>
        </p:spPr>
        <p:txBody>
          <a:bodyPr wrap="none">
            <a:spAutoFit/>
          </a:bodyPr>
          <a:lstStyle/>
          <a:p>
            <a:pPr>
              <a:defRPr sz="900">
                <a:solidFill>
                  <a:srgbClr val="94A3B8"/>
                </a:solidFill>
                <a:latin typeface="Arial"/>
              </a:defRPr>
            </a:pPr>
            <a:r>
              <a:t>Institución Universitaria ITM  |  Electrónica Analógica y Laboratorio  |  Docente: Fredy Andrés Torres Muñoz  |  www.itm.edu.co</a:t>
            </a:r>
          </a:p>
        </p:txBody>
      </p:sp>
      <p:graphicFrame>
        <p:nvGraphicFramePr>
          <p:cNvPr id="8" name="Table 7"/>
          <p:cNvGraphicFramePr>
            <a:graphicFrameLocks noGrp="1"/>
          </p:cNvGraphicFramePr>
          <p:nvPr/>
        </p:nvGraphicFramePr>
        <p:xfrm>
          <a:off x="731520" y="1371600"/>
          <a:ext cx="10728655" cy="4937760"/>
        </p:xfrm>
        <a:graphic>
          <a:graphicData uri="http://schemas.openxmlformats.org/drawingml/2006/table">
            <a:tbl>
              <a:tblPr firstRow="1" bandRow="1">
                <a:tableStyleId>{5C22544A-7EE6-4342-B048-85BDC9FD1C3A}</a:tableStyleId>
              </a:tblPr>
              <a:tblGrid>
                <a:gridCol w="2011680"/>
                <a:gridCol w="2651760"/>
                <a:gridCol w="2926080"/>
                <a:gridCol w="3139135"/>
              </a:tblGrid>
              <a:tr h="617220">
                <a:tc>
                  <a:txBody>
                    <a:bodyPr/>
                    <a:lstStyle/>
                    <a:p>
                      <a:pPr>
                        <a:defRPr b="1" sz="1100">
                          <a:solidFill>
                            <a:srgbClr val="FFB800"/>
                          </a:solidFill>
                        </a:defRPr>
                      </a:pPr>
                      <a:r>
                        <a:t>Criterio de Ingeniería</a:t>
                      </a:r>
                    </a:p>
                  </a:txBody>
                  <a:tcPr>
                    <a:solidFill>
                      <a:srgbClr val="102A58"/>
                    </a:solidFill>
                  </a:tcPr>
                </a:tc>
                <a:tc>
                  <a:txBody>
                    <a:bodyPr/>
                    <a:lstStyle/>
                    <a:p>
                      <a:pPr>
                        <a:defRPr b="1" sz="1100">
                          <a:solidFill>
                            <a:srgbClr val="FFB800"/>
                          </a:solidFill>
                        </a:defRPr>
                      </a:pPr>
                      <a:r>
                        <a:t>BJT (Bipolar)</a:t>
                      </a:r>
                    </a:p>
                  </a:txBody>
                  <a:tcPr>
                    <a:solidFill>
                      <a:srgbClr val="102A58"/>
                    </a:solidFill>
                  </a:tcPr>
                </a:tc>
                <a:tc>
                  <a:txBody>
                    <a:bodyPr/>
                    <a:lstStyle/>
                    <a:p>
                      <a:pPr>
                        <a:defRPr b="1" sz="1100">
                          <a:solidFill>
                            <a:srgbClr val="FFB800"/>
                          </a:solidFill>
                        </a:defRPr>
                      </a:pPr>
                      <a:r>
                        <a:t>FET / MOSFET (Unipolar)</a:t>
                      </a:r>
                    </a:p>
                  </a:txBody>
                  <a:tcPr>
                    <a:solidFill>
                      <a:srgbClr val="102A58"/>
                    </a:solidFill>
                  </a:tcPr>
                </a:tc>
                <a:tc>
                  <a:txBody>
                    <a:bodyPr/>
                    <a:lstStyle/>
                    <a:p>
                      <a:pPr>
                        <a:defRPr b="1" sz="1100">
                          <a:solidFill>
                            <a:srgbClr val="FFB800"/>
                          </a:solidFill>
                        </a:defRPr>
                      </a:pPr>
                      <a:r>
                        <a:t>Impacto en Diseño y Aplicación</a:t>
                      </a:r>
                    </a:p>
                  </a:txBody>
                  <a:tcPr>
                    <a:solidFill>
                      <a:srgbClr val="102A58"/>
                    </a:solidFill>
                  </a:tcPr>
                </a:tc>
              </a:tr>
              <a:tr h="617220">
                <a:tc>
                  <a:txBody>
                    <a:bodyPr/>
                    <a:lstStyle/>
                    <a:p>
                      <a:pPr>
                        <a:defRPr sz="1000">
                          <a:solidFill>
                            <a:srgbClr val="FFFFFF"/>
                          </a:solidFill>
                        </a:defRPr>
                      </a:pPr>
                      <a:r>
                        <a:t>Parámetro de Control</a:t>
                      </a:r>
                    </a:p>
                  </a:txBody>
                  <a:tcPr>
                    <a:solidFill>
                      <a:srgbClr val="0E1E3E"/>
                    </a:solidFill>
                  </a:tcPr>
                </a:tc>
                <a:tc>
                  <a:txBody>
                    <a:bodyPr/>
                    <a:lstStyle/>
                    <a:p>
                      <a:pPr>
                        <a:defRPr sz="1000">
                          <a:solidFill>
                            <a:srgbClr val="CBD5E1"/>
                          </a:solidFill>
                        </a:defRPr>
                      </a:pPr>
                      <a:r>
                        <a:t>Corriente de base (I_B)</a:t>
                      </a:r>
                    </a:p>
                  </a:txBody>
                  <a:tcPr>
                    <a:solidFill>
                      <a:srgbClr val="0E1E3E"/>
                    </a:solidFill>
                  </a:tcPr>
                </a:tc>
                <a:tc>
                  <a:txBody>
                    <a:bodyPr/>
                    <a:lstStyle/>
                    <a:p>
                      <a:pPr>
                        <a:defRPr sz="1000">
                          <a:solidFill>
                            <a:srgbClr val="CBD5E1"/>
                          </a:solidFill>
                        </a:defRPr>
                      </a:pPr>
                      <a:r>
                        <a:t>Voltaje compuerta-fuente (V_GS)</a:t>
                      </a:r>
                    </a:p>
                  </a:txBody>
                  <a:tcPr>
                    <a:solidFill>
                      <a:srgbClr val="0E1E3E"/>
                    </a:solidFill>
                  </a:tcPr>
                </a:tc>
                <a:tc>
                  <a:txBody>
                    <a:bodyPr/>
                    <a:lstStyle/>
                    <a:p>
                      <a:pPr>
                        <a:defRPr sz="1000">
                          <a:solidFill>
                            <a:srgbClr val="CBD5E1"/>
                          </a:solidFill>
                        </a:defRPr>
                      </a:pPr>
                      <a:r>
                        <a:t>El FET no sobrecarga la etapa de control previa.</a:t>
                      </a:r>
                    </a:p>
                  </a:txBody>
                  <a:tcPr>
                    <a:solidFill>
                      <a:srgbClr val="0E1E3E"/>
                    </a:solidFill>
                  </a:tcPr>
                </a:tc>
              </a:tr>
              <a:tr h="617220">
                <a:tc>
                  <a:txBody>
                    <a:bodyPr/>
                    <a:lstStyle/>
                    <a:p>
                      <a:pPr>
                        <a:defRPr sz="1000">
                          <a:solidFill>
                            <a:srgbClr val="FFFFFF"/>
                          </a:solidFill>
                        </a:defRPr>
                      </a:pPr>
                      <a:r>
                        <a:t>Portadores de Carga</a:t>
                      </a:r>
                    </a:p>
                  </a:txBody>
                  <a:tcPr>
                    <a:solidFill>
                      <a:srgbClr val="12264D"/>
                    </a:solidFill>
                  </a:tcPr>
                </a:tc>
                <a:tc>
                  <a:txBody>
                    <a:bodyPr/>
                    <a:lstStyle/>
                    <a:p>
                      <a:pPr>
                        <a:defRPr sz="1000">
                          <a:solidFill>
                            <a:srgbClr val="CBD5E1"/>
                          </a:solidFill>
                        </a:defRPr>
                      </a:pPr>
                      <a:r>
                        <a:t>Bipolar (electrones y huecos)</a:t>
                      </a:r>
                    </a:p>
                  </a:txBody>
                  <a:tcPr>
                    <a:solidFill>
                      <a:srgbClr val="12264D"/>
                    </a:solidFill>
                  </a:tcPr>
                </a:tc>
                <a:tc>
                  <a:txBody>
                    <a:bodyPr/>
                    <a:lstStyle/>
                    <a:p>
                      <a:pPr>
                        <a:defRPr sz="1000">
                          <a:solidFill>
                            <a:srgbClr val="CBD5E1"/>
                          </a:solidFill>
                        </a:defRPr>
                      </a:pPr>
                      <a:r>
                        <a:t>Unipolar (solo electrones o huecos)</a:t>
                      </a:r>
                    </a:p>
                  </a:txBody>
                  <a:tcPr>
                    <a:solidFill>
                      <a:srgbClr val="12264D"/>
                    </a:solidFill>
                  </a:tcPr>
                </a:tc>
                <a:tc>
                  <a:txBody>
                    <a:bodyPr/>
                    <a:lstStyle/>
                    <a:p>
                      <a:pPr>
                        <a:defRPr sz="1000">
                          <a:solidFill>
                            <a:srgbClr val="CBD5E1"/>
                          </a:solidFill>
                        </a:defRPr>
                      </a:pPr>
                      <a:r>
                        <a:t>FET sin almacenamiento de minoritarios (conmutación veloz).</a:t>
                      </a:r>
                    </a:p>
                  </a:txBody>
                  <a:tcPr>
                    <a:solidFill>
                      <a:srgbClr val="12264D"/>
                    </a:solidFill>
                  </a:tcPr>
                </a:tc>
              </a:tr>
              <a:tr h="617220">
                <a:tc>
                  <a:txBody>
                    <a:bodyPr/>
                    <a:lstStyle/>
                    <a:p>
                      <a:pPr>
                        <a:defRPr sz="1000">
                          <a:solidFill>
                            <a:srgbClr val="FFFFFF"/>
                          </a:solidFill>
                        </a:defRPr>
                      </a:pPr>
                      <a:r>
                        <a:t>Impedancia Entrada (Z_in)</a:t>
                      </a:r>
                    </a:p>
                  </a:txBody>
                  <a:tcPr>
                    <a:solidFill>
                      <a:srgbClr val="0E1E3E"/>
                    </a:solidFill>
                  </a:tcPr>
                </a:tc>
                <a:tc>
                  <a:txBody>
                    <a:bodyPr/>
                    <a:lstStyle/>
                    <a:p>
                      <a:pPr>
                        <a:defRPr sz="1000">
                          <a:solidFill>
                            <a:srgbClr val="CBD5E1"/>
                          </a:solidFill>
                        </a:defRPr>
                      </a:pPr>
                      <a:r>
                        <a:t>Media (1 kΩ a 50 kΩ)</a:t>
                      </a:r>
                    </a:p>
                  </a:txBody>
                  <a:tcPr>
                    <a:solidFill>
                      <a:srgbClr val="0E1E3E"/>
                    </a:solidFill>
                  </a:tcPr>
                </a:tc>
                <a:tc>
                  <a:txBody>
                    <a:bodyPr/>
                    <a:lstStyle/>
                    <a:p>
                      <a:pPr>
                        <a:defRPr sz="1000">
                          <a:solidFill>
                            <a:srgbClr val="CBD5E1"/>
                          </a:solidFill>
                        </a:defRPr>
                      </a:pPr>
                      <a:r>
                        <a:t>Casi Infinita (10⁹ a 10¹⁴ Ω)</a:t>
                      </a:r>
                    </a:p>
                  </a:txBody>
                  <a:tcPr>
                    <a:solidFill>
                      <a:srgbClr val="0E1E3E"/>
                    </a:solidFill>
                  </a:tcPr>
                </a:tc>
                <a:tc>
                  <a:txBody>
                    <a:bodyPr/>
                    <a:lstStyle/>
                    <a:p>
                      <a:pPr>
                        <a:defRPr sz="1000">
                          <a:solidFill>
                            <a:srgbClr val="CBD5E1"/>
                          </a:solidFill>
                        </a:defRPr>
                      </a:pPr>
                      <a:r>
                        <a:t>FET ideal para etapas de entrada de instrumentación.</a:t>
                      </a:r>
                    </a:p>
                  </a:txBody>
                  <a:tcPr>
                    <a:solidFill>
                      <a:srgbClr val="0E1E3E"/>
                    </a:solidFill>
                  </a:tcPr>
                </a:tc>
              </a:tr>
              <a:tr h="617220">
                <a:tc>
                  <a:txBody>
                    <a:bodyPr/>
                    <a:lstStyle/>
                    <a:p>
                      <a:pPr>
                        <a:defRPr sz="1000">
                          <a:solidFill>
                            <a:srgbClr val="FFFFFF"/>
                          </a:solidFill>
                        </a:defRPr>
                      </a:pPr>
                      <a:r>
                        <a:t>Corriente Entrada en DC</a:t>
                      </a:r>
                    </a:p>
                  </a:txBody>
                  <a:tcPr>
                    <a:solidFill>
                      <a:srgbClr val="12264D"/>
                    </a:solidFill>
                  </a:tcPr>
                </a:tc>
                <a:tc>
                  <a:txBody>
                    <a:bodyPr/>
                    <a:lstStyle/>
                    <a:p>
                      <a:pPr>
                        <a:defRPr sz="1000">
                          <a:solidFill>
                            <a:srgbClr val="CBD5E1"/>
                          </a:solidFill>
                        </a:defRPr>
                      </a:pPr>
                      <a:r>
                        <a:t>Finita (I_B = I_C / β)</a:t>
                      </a:r>
                    </a:p>
                  </a:txBody>
                  <a:tcPr>
                    <a:solidFill>
                      <a:srgbClr val="12264D"/>
                    </a:solidFill>
                  </a:tcPr>
                </a:tc>
                <a:tc>
                  <a:txBody>
                    <a:bodyPr/>
                    <a:lstStyle/>
                    <a:p>
                      <a:pPr>
                        <a:defRPr sz="1000">
                          <a:solidFill>
                            <a:srgbClr val="CBD5E1"/>
                          </a:solidFill>
                        </a:defRPr>
                      </a:pPr>
                      <a:r>
                        <a:t>I_G ≈ 0 A en estado estacionario</a:t>
                      </a:r>
                    </a:p>
                  </a:txBody>
                  <a:tcPr>
                    <a:solidFill>
                      <a:srgbClr val="12264D"/>
                    </a:solidFill>
                  </a:tcPr>
                </a:tc>
                <a:tc>
                  <a:txBody>
                    <a:bodyPr/>
                    <a:lstStyle/>
                    <a:p>
                      <a:pPr>
                        <a:defRPr sz="1000">
                          <a:solidFill>
                            <a:srgbClr val="CBD5E1"/>
                          </a:solidFill>
                        </a:defRPr>
                      </a:pPr>
                      <a:r>
                        <a:t>Consumo estático nulo en la compuerta del FET.</a:t>
                      </a:r>
                    </a:p>
                  </a:txBody>
                  <a:tcPr>
                    <a:solidFill>
                      <a:srgbClr val="12264D"/>
                    </a:solidFill>
                  </a:tcPr>
                </a:tc>
              </a:tr>
              <a:tr h="617220">
                <a:tc>
                  <a:txBody>
                    <a:bodyPr/>
                    <a:lstStyle/>
                    <a:p>
                      <a:pPr>
                        <a:defRPr sz="1000">
                          <a:solidFill>
                            <a:srgbClr val="FFFFFF"/>
                          </a:solidFill>
                        </a:defRPr>
                      </a:pPr>
                      <a:r>
                        <a:t>Ecuación de Salida</a:t>
                      </a:r>
                    </a:p>
                  </a:txBody>
                  <a:tcPr>
                    <a:solidFill>
                      <a:srgbClr val="0E1E3E"/>
                    </a:solidFill>
                  </a:tcPr>
                </a:tc>
                <a:tc>
                  <a:txBody>
                    <a:bodyPr/>
                    <a:lstStyle/>
                    <a:p>
                      <a:pPr>
                        <a:defRPr sz="1000">
                          <a:solidFill>
                            <a:srgbClr val="CBD5E1"/>
                          </a:solidFill>
                        </a:defRPr>
                      </a:pPr>
                      <a:r>
                        <a:t>Exponencial: I_C = I_S · exp(V_BE/V_T)</a:t>
                      </a:r>
                    </a:p>
                  </a:txBody>
                  <a:tcPr>
                    <a:solidFill>
                      <a:srgbClr val="0E1E3E"/>
                    </a:solidFill>
                  </a:tcPr>
                </a:tc>
                <a:tc>
                  <a:txBody>
                    <a:bodyPr/>
                    <a:lstStyle/>
                    <a:p>
                      <a:pPr>
                        <a:defRPr sz="1000">
                          <a:solidFill>
                            <a:srgbClr val="CBD5E1"/>
                          </a:solidFill>
                        </a:defRPr>
                      </a:pPr>
                      <a:r>
                        <a:t>Cuadrática: I_D = k·(V_GS - V_th)²</a:t>
                      </a:r>
                    </a:p>
                  </a:txBody>
                  <a:tcPr>
                    <a:solidFill>
                      <a:srgbClr val="0E1E3E"/>
                    </a:solidFill>
                  </a:tcPr>
                </a:tc>
                <a:tc>
                  <a:txBody>
                    <a:bodyPr/>
                    <a:lstStyle/>
                    <a:p>
                      <a:pPr>
                        <a:defRPr sz="1000">
                          <a:solidFill>
                            <a:srgbClr val="CBD5E1"/>
                          </a:solidFill>
                        </a:defRPr>
                      </a:pPr>
                      <a:r>
                        <a:t>El BJT tiene mayor transconductancia (gm) a igual corriente.</a:t>
                      </a:r>
                    </a:p>
                  </a:txBody>
                  <a:tcPr>
                    <a:solidFill>
                      <a:srgbClr val="0E1E3E"/>
                    </a:solidFill>
                  </a:tcPr>
                </a:tc>
              </a:tr>
              <a:tr h="617220">
                <a:tc>
                  <a:txBody>
                    <a:bodyPr/>
                    <a:lstStyle/>
                    <a:p>
                      <a:pPr>
                        <a:defRPr sz="1000">
                          <a:solidFill>
                            <a:srgbClr val="FFFFFF"/>
                          </a:solidFill>
                        </a:defRPr>
                      </a:pPr>
                      <a:r>
                        <a:t>Estabilidad Térmica</a:t>
                      </a:r>
                    </a:p>
                  </a:txBody>
                  <a:tcPr>
                    <a:solidFill>
                      <a:srgbClr val="12264D"/>
                    </a:solidFill>
                  </a:tcPr>
                </a:tc>
                <a:tc>
                  <a:txBody>
                    <a:bodyPr/>
                    <a:lstStyle/>
                    <a:p>
                      <a:pPr>
                        <a:defRPr sz="1000">
                          <a:solidFill>
                            <a:srgbClr val="CBD5E1"/>
                          </a:solidFill>
                        </a:defRPr>
                      </a:pPr>
                      <a:r>
                        <a:t>Riesgo de embalamiento térmico</a:t>
                      </a:r>
                    </a:p>
                  </a:txBody>
                  <a:tcPr>
                    <a:solidFill>
                      <a:srgbClr val="12264D"/>
                    </a:solidFill>
                  </a:tcPr>
                </a:tc>
                <a:tc>
                  <a:txBody>
                    <a:bodyPr/>
                    <a:lstStyle/>
                    <a:p>
                      <a:pPr>
                        <a:defRPr sz="1000">
                          <a:solidFill>
                            <a:srgbClr val="CBD5E1"/>
                          </a:solidFill>
                        </a:defRPr>
                      </a:pPr>
                      <a:r>
                        <a:t>Coeficiente negativo en alta I_D</a:t>
                      </a:r>
                    </a:p>
                  </a:txBody>
                  <a:tcPr>
                    <a:solidFill>
                      <a:srgbClr val="12264D"/>
                    </a:solidFill>
                  </a:tcPr>
                </a:tc>
                <a:tc>
                  <a:txBody>
                    <a:bodyPr/>
                    <a:lstStyle/>
                    <a:p>
                      <a:pPr>
                        <a:defRPr sz="1000">
                          <a:solidFill>
                            <a:srgbClr val="CBD5E1"/>
                          </a:solidFill>
                        </a:defRPr>
                      </a:pPr>
                      <a:r>
                        <a:t>Los MOSFETs se pueden poner en paralelo fácilmente.</a:t>
                      </a:r>
                    </a:p>
                  </a:txBody>
                  <a:tcPr>
                    <a:solidFill>
                      <a:srgbClr val="12264D"/>
                    </a:solidFill>
                  </a:tcPr>
                </a:tc>
              </a:tr>
              <a:tr h="617220">
                <a:tc>
                  <a:txBody>
                    <a:bodyPr/>
                    <a:lstStyle/>
                    <a:p>
                      <a:pPr>
                        <a:defRPr sz="1000">
                          <a:solidFill>
                            <a:srgbClr val="FFFFFF"/>
                          </a:solidFill>
                        </a:defRPr>
                      </a:pPr>
                      <a:r>
                        <a:t>Aplicación Principal</a:t>
                      </a:r>
                    </a:p>
                  </a:txBody>
                  <a:tcPr>
                    <a:solidFill>
                      <a:srgbClr val="0E1E3E"/>
                    </a:solidFill>
                  </a:tcPr>
                </a:tc>
                <a:tc>
                  <a:txBody>
                    <a:bodyPr/>
                    <a:lstStyle/>
                    <a:p>
                      <a:pPr>
                        <a:defRPr sz="1000">
                          <a:solidFill>
                            <a:srgbClr val="CBD5E1"/>
                          </a:solidFill>
                        </a:defRPr>
                      </a:pPr>
                      <a:r>
                        <a:t>Amplificadores lineales de alta ganancia</a:t>
                      </a:r>
                    </a:p>
                  </a:txBody>
                  <a:tcPr>
                    <a:solidFill>
                      <a:srgbClr val="0E1E3E"/>
                    </a:solidFill>
                  </a:tcPr>
                </a:tc>
                <a:tc>
                  <a:txBody>
                    <a:bodyPr/>
                    <a:lstStyle/>
                    <a:p>
                      <a:pPr>
                        <a:defRPr sz="1000">
                          <a:solidFill>
                            <a:srgbClr val="CBD5E1"/>
                          </a:solidFill>
                        </a:defRPr>
                      </a:pPr>
                      <a:r>
                        <a:t>Conmutación de potencia, CMOS, VLSI</a:t>
                      </a:r>
                    </a:p>
                  </a:txBody>
                  <a:tcPr>
                    <a:solidFill>
                      <a:srgbClr val="0E1E3E"/>
                    </a:solidFill>
                  </a:tcPr>
                </a:tc>
                <a:tc>
                  <a:txBody>
                    <a:bodyPr/>
                    <a:lstStyle/>
                    <a:p>
                      <a:pPr>
                        <a:defRPr sz="1000">
                          <a:solidFill>
                            <a:srgbClr val="CBD5E1"/>
                          </a:solidFill>
                        </a:defRPr>
                      </a:pPr>
                      <a:r>
                        <a:t>MOSFET domina electrónica de potencia y cómputo digital.</a:t>
                      </a:r>
                    </a:p>
                  </a:txBody>
                  <a:tcPr>
                    <a:solidFill>
                      <a:srgbClr val="0E1E3E"/>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B3D"/>
          </a:solidFill>
          <a:ln>
            <a:solidFill>
              <a:srgbClr val="0B1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515600" cy="320040"/>
          </a:xfrm>
          <a:prstGeom prst="rect">
            <a:avLst/>
          </a:prstGeom>
          <a:noFill/>
        </p:spPr>
        <p:txBody>
          <a:bodyPr wrap="square">
            <a:spAutoFit/>
          </a:bodyPr>
          <a:lstStyle/>
          <a:p>
            <a:pPr>
              <a:defRPr sz="1100" b="1">
                <a:solidFill>
                  <a:srgbClr val="FFB800"/>
                </a:solidFill>
                <a:latin typeface="Arial"/>
              </a:defRPr>
            </a:pPr>
            <a:r>
              <a:t>CLASIFICACIÓN GENERAL</a:t>
            </a:r>
          </a:p>
        </p:txBody>
      </p:sp>
      <p:sp>
        <p:nvSpPr>
          <p:cNvPr id="4" name="TextBox 3"/>
          <p:cNvSpPr txBox="1"/>
          <p:nvPr/>
        </p:nvSpPr>
        <p:spPr>
          <a:xfrm>
            <a:off x="731520" y="594360"/>
            <a:ext cx="10515600" cy="685800"/>
          </a:xfrm>
          <a:prstGeom prst="rect">
            <a:avLst/>
          </a:prstGeom>
          <a:noFill/>
        </p:spPr>
        <p:txBody>
          <a:bodyPr wrap="square">
            <a:spAutoFit/>
          </a:bodyPr>
          <a:lstStyle/>
          <a:p>
            <a:pPr>
              <a:defRPr sz="2200" b="1">
                <a:solidFill>
                  <a:srgbClr val="FFFFFF"/>
                </a:solidFill>
                <a:latin typeface="Arial"/>
              </a:defRPr>
            </a:pPr>
            <a:r>
              <a:t>3. Taxonomía de la Familia FET: ¿Cuál usar y por qué?</a:t>
            </a:r>
          </a:p>
        </p:txBody>
      </p:sp>
      <p:sp>
        <p:nvSpPr>
          <p:cNvPr id="5" name="Rectangle 4"/>
          <p:cNvSpPr/>
          <p:nvPr/>
        </p:nvSpPr>
        <p:spPr>
          <a:xfrm>
            <a:off x="0" y="6565392"/>
            <a:ext cx="7772400" cy="54864"/>
          </a:xfrm>
          <a:prstGeom prst="rect">
            <a:avLst/>
          </a:prstGeom>
          <a:solidFill>
            <a:srgbClr val="00C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0" y="6565392"/>
            <a:ext cx="4419295" cy="54864"/>
          </a:xfrm>
          <a:prstGeom prst="rect">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601968"/>
            <a:ext cx="10698480" cy="228600"/>
          </a:xfrm>
          <a:prstGeom prst="rect">
            <a:avLst/>
          </a:prstGeom>
          <a:noFill/>
        </p:spPr>
        <p:txBody>
          <a:bodyPr wrap="none">
            <a:spAutoFit/>
          </a:bodyPr>
          <a:lstStyle/>
          <a:p>
            <a:pPr>
              <a:defRPr sz="900">
                <a:solidFill>
                  <a:srgbClr val="94A3B8"/>
                </a:solidFill>
                <a:latin typeface="Arial"/>
              </a:defRPr>
            </a:pPr>
            <a:r>
              <a:t>Institución Universitaria ITM  |  Electrónica Analógica y Laboratorio  |  Docente: Fredy Andrés Torres Muñoz  |  www.itm.edu.co</a:t>
            </a:r>
          </a:p>
        </p:txBody>
      </p:sp>
      <p:sp>
        <p:nvSpPr>
          <p:cNvPr id="8" name="Rounded Rectangle 7"/>
          <p:cNvSpPr/>
          <p:nvPr/>
        </p:nvSpPr>
        <p:spPr>
          <a:xfrm>
            <a:off x="731520" y="1463040"/>
            <a:ext cx="3328416" cy="4846320"/>
          </a:xfrm>
          <a:prstGeom prst="roundRect">
            <a:avLst/>
          </a:prstGeom>
          <a:solidFill>
            <a:srgbClr val="12264D"/>
          </a:solidFill>
          <a:ln w="19050">
            <a:solidFill>
              <a:srgbClr val="00C0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45920"/>
            <a:ext cx="3054096" cy="4389120"/>
          </a:xfrm>
          <a:prstGeom prst="rect">
            <a:avLst/>
          </a:prstGeom>
          <a:noFill/>
        </p:spPr>
        <p:txBody>
          <a:bodyPr wrap="square">
            <a:spAutoFit/>
          </a:bodyPr>
          <a:lstStyle/>
          <a:p>
            <a:pPr>
              <a:defRPr b="1" sz="1600">
                <a:solidFill>
                  <a:srgbClr val="FFB800"/>
                </a:solidFill>
              </a:defRPr>
            </a:pPr>
            <a:r>
              <a:t>1. JFET (Unión)</a:t>
            </a:r>
          </a:p>
          <a:p>
            <a:pPr>
              <a:defRPr sz="1100">
                <a:solidFill>
                  <a:srgbClr val="CBD5E1"/>
                </a:solidFill>
              </a:defRPr>
            </a:pPr>
            <a:r>
              <a:t>• Estructura: Unión P-N polarizada en inversa.</a:t>
            </a:r>
          </a:p>
          <a:p>
            <a:pPr>
              <a:defRPr sz="1100">
                <a:solidFill>
                  <a:srgbClr val="CBD5E1"/>
                </a:solidFill>
              </a:defRPr>
            </a:pPr>
            <a:r>
              <a:t>• Modo: Siempre de agotamiento / empobrecimiento.</a:t>
            </a:r>
          </a:p>
          <a:p>
            <a:pPr>
              <a:defRPr sz="1100">
                <a:solidFill>
                  <a:srgbClr val="CBD5E1"/>
                </a:solidFill>
              </a:defRPr>
            </a:pPr>
            <a:r>
              <a:t>• Estado en V_GS = 0: Normalmente encendido (conduce I_DSS).</a:t>
            </a:r>
          </a:p>
          <a:p>
            <a:pPr>
              <a:defRPr sz="1100">
                <a:solidFill>
                  <a:srgbClr val="CBD5E1"/>
                </a:solidFill>
              </a:defRPr>
            </a:pPr>
            <a:r>
              <a:t>• Control: V_GS negativo estrangula el canal (canal N).</a:t>
            </a:r>
          </a:p>
          <a:p>
            <a:pPr>
              <a:defRPr sz="1100">
                <a:solidFill>
                  <a:srgbClr val="CBD5E1"/>
                </a:solidFill>
              </a:defRPr>
            </a:pPr>
            <a:r>
              <a:t>• Ecuación (Shockley): I_D = I_DSS · (1 - V_GS / V_P)²</a:t>
            </a:r>
          </a:p>
          <a:p>
            <a:pPr>
              <a:defRPr sz="1100">
                <a:solidFill>
                  <a:srgbClr val="CBD5E1"/>
                </a:solidFill>
              </a:defRPr>
            </a:pPr>
            <a:r>
              <a:t>• Uso actual: Fuentes de corriente constante, previo de audio de bajo ruido, conmutador analógico RF.</a:t>
            </a:r>
          </a:p>
        </p:txBody>
      </p:sp>
      <p:sp>
        <p:nvSpPr>
          <p:cNvPr id="10" name="Rounded Rectangle 9"/>
          <p:cNvSpPr/>
          <p:nvPr/>
        </p:nvSpPr>
        <p:spPr>
          <a:xfrm>
            <a:off x="4425696" y="1463040"/>
            <a:ext cx="3328416" cy="4846320"/>
          </a:xfrm>
          <a:prstGeom prst="roundRect">
            <a:avLst/>
          </a:prstGeom>
          <a:solidFill>
            <a:srgbClr val="12264D"/>
          </a:solidFill>
          <a:ln w="19050">
            <a:solidFill>
              <a:srgbClr val="00C0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62856" y="1645920"/>
            <a:ext cx="3054096" cy="4389120"/>
          </a:xfrm>
          <a:prstGeom prst="rect">
            <a:avLst/>
          </a:prstGeom>
          <a:noFill/>
        </p:spPr>
        <p:txBody>
          <a:bodyPr wrap="square">
            <a:spAutoFit/>
          </a:bodyPr>
          <a:lstStyle/>
          <a:p>
            <a:pPr>
              <a:defRPr b="1" sz="1600">
                <a:solidFill>
                  <a:srgbClr val="00C0F3"/>
                </a:solidFill>
              </a:defRPr>
            </a:pPr>
            <a:r>
              <a:t>2. D-MOSFET (Empobrecimiento)</a:t>
            </a:r>
          </a:p>
          <a:p>
            <a:pPr>
              <a:defRPr sz="1100">
                <a:solidFill>
                  <a:srgbClr val="CBD5E1"/>
                </a:solidFill>
              </a:defRPr>
            </a:pPr>
            <a:r>
              <a:t>• Estructura: Compuerta aislada con óxido SiO2 y canal físico preexistente.</a:t>
            </a:r>
          </a:p>
          <a:p>
            <a:pPr>
              <a:defRPr sz="1100">
                <a:solidFill>
                  <a:srgbClr val="CBD5E1"/>
                </a:solidFill>
              </a:defRPr>
            </a:pPr>
            <a:r>
              <a:t>• Modo dual: Opera en empobrecimiento (V_GS &lt; 0) y enriquecimiento (V_GS &gt; 0).</a:t>
            </a:r>
          </a:p>
          <a:p>
            <a:pPr>
              <a:defRPr sz="1100">
                <a:solidFill>
                  <a:srgbClr val="CBD5E1"/>
                </a:solidFill>
              </a:defRPr>
            </a:pPr>
            <a:r>
              <a:t>• Estado en V_GS = 0: Normalmente encendido (conduce I_DSS).</a:t>
            </a:r>
          </a:p>
          <a:p>
            <a:pPr>
              <a:defRPr sz="1100">
                <a:solidFill>
                  <a:srgbClr val="CBD5E1"/>
                </a:solidFill>
              </a:defRPr>
            </a:pPr>
            <a:r>
              <a:t>• Ecuación: Sigue la ecuación de Shockley de Boylestad.</a:t>
            </a:r>
          </a:p>
          <a:p>
            <a:pPr>
              <a:defRPr sz="1100">
                <a:solidFill>
                  <a:srgbClr val="CBD5E1"/>
                </a:solidFill>
              </a:defRPr>
            </a:pPr>
            <a:r>
              <a:t>• Uso: Amplificadores RF de alta frecuencia y circuitos de protección.</a:t>
            </a:r>
          </a:p>
        </p:txBody>
      </p:sp>
      <p:sp>
        <p:nvSpPr>
          <p:cNvPr id="12" name="Rounded Rectangle 11"/>
          <p:cNvSpPr/>
          <p:nvPr/>
        </p:nvSpPr>
        <p:spPr>
          <a:xfrm>
            <a:off x="8119872" y="1463040"/>
            <a:ext cx="3328416" cy="4846320"/>
          </a:xfrm>
          <a:prstGeom prst="roundRect">
            <a:avLst/>
          </a:prstGeom>
          <a:solidFill>
            <a:srgbClr val="12264D"/>
          </a:solidFill>
          <a:ln w="254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57032" y="1645920"/>
            <a:ext cx="3054096" cy="4389120"/>
          </a:xfrm>
          <a:prstGeom prst="rect">
            <a:avLst/>
          </a:prstGeom>
          <a:noFill/>
        </p:spPr>
        <p:txBody>
          <a:bodyPr wrap="square">
            <a:spAutoFit/>
          </a:bodyPr>
          <a:lstStyle/>
          <a:p>
            <a:pPr>
              <a:defRPr b="1" sz="1600">
                <a:solidFill>
                  <a:srgbClr val="34D399"/>
                </a:solidFill>
              </a:defRPr>
            </a:pPr>
            <a:r>
              <a:t>3. E-MOSFET (Enriquecimiento)</a:t>
            </a:r>
          </a:p>
          <a:p>
            <a:pPr>
              <a:defRPr sz="1100">
                <a:solidFill>
                  <a:srgbClr val="CBD5E1"/>
                </a:solidFill>
              </a:defRPr>
            </a:pPr>
            <a:r>
              <a:t>• Estructura: Compuerta aislada por SiO2 SIN canal físico previo.</a:t>
            </a:r>
          </a:p>
          <a:p>
            <a:pPr>
              <a:defRPr sz="1100">
                <a:solidFill>
                  <a:srgbClr val="CBD5E1"/>
                </a:solidFill>
              </a:defRPr>
            </a:pPr>
            <a:r>
              <a:t>• Modo: Exclusivamente de enriquecimiento (canal inducido).</a:t>
            </a:r>
          </a:p>
          <a:p>
            <a:pPr>
              <a:defRPr sz="1100">
                <a:solidFill>
                  <a:srgbClr val="CBD5E1"/>
                </a:solidFill>
              </a:defRPr>
            </a:pPr>
            <a:r>
              <a:t>• Estado en V_GS = 0: Normalmente APAGADO (I_D = 0 A). ¡Seguridad industrial garantizada!</a:t>
            </a:r>
          </a:p>
          <a:p>
            <a:pPr>
              <a:defRPr sz="1100">
                <a:solidFill>
                  <a:srgbClr val="CBD5E1"/>
                </a:solidFill>
              </a:defRPr>
            </a:pPr>
            <a:r>
              <a:t>• Condición: Requiere superar el Voltaje Umbral: V_GS &gt; V_GS(th).</a:t>
            </a:r>
          </a:p>
          <a:p>
            <a:pPr>
              <a:defRPr sz="1100">
                <a:solidFill>
                  <a:srgbClr val="CBD5E1"/>
                </a:solidFill>
              </a:defRPr>
            </a:pPr>
            <a:r>
              <a:t>• Ecuación cuadrática: I_D = k · (V_GS - V_GS(th))²</a:t>
            </a:r>
          </a:p>
          <a:p>
            <a:pPr>
              <a:defRPr sz="1100">
                <a:solidFill>
                  <a:srgbClr val="CBD5E1"/>
                </a:solidFill>
              </a:defRPr>
            </a:pPr>
            <a:r>
              <a:t>• Importancia: ¡Representa más del 95% de la industria de semiconductores hoy en día!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B3D"/>
          </a:solidFill>
          <a:ln>
            <a:solidFill>
              <a:srgbClr val="0B1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515600" cy="320040"/>
          </a:xfrm>
          <a:prstGeom prst="rect">
            <a:avLst/>
          </a:prstGeom>
          <a:noFill/>
        </p:spPr>
        <p:txBody>
          <a:bodyPr wrap="square">
            <a:spAutoFit/>
          </a:bodyPr>
          <a:lstStyle/>
          <a:p>
            <a:pPr>
              <a:defRPr sz="1100" b="1">
                <a:solidFill>
                  <a:srgbClr val="FFB800"/>
                </a:solidFill>
                <a:latin typeface="Arial"/>
              </a:defRPr>
            </a:pPr>
            <a:r>
              <a:t>FÍSICA DE SEMICONDUCTORES</a:t>
            </a:r>
          </a:p>
        </p:txBody>
      </p:sp>
      <p:sp>
        <p:nvSpPr>
          <p:cNvPr id="4" name="TextBox 3"/>
          <p:cNvSpPr txBox="1"/>
          <p:nvPr/>
        </p:nvSpPr>
        <p:spPr>
          <a:xfrm>
            <a:off x="731520" y="594360"/>
            <a:ext cx="10515600" cy="685800"/>
          </a:xfrm>
          <a:prstGeom prst="rect">
            <a:avLst/>
          </a:prstGeom>
          <a:noFill/>
        </p:spPr>
        <p:txBody>
          <a:bodyPr wrap="square">
            <a:spAutoFit/>
          </a:bodyPr>
          <a:lstStyle/>
          <a:p>
            <a:pPr>
              <a:defRPr sz="2200" b="1">
                <a:solidFill>
                  <a:srgbClr val="FFFFFF"/>
                </a:solidFill>
                <a:latin typeface="Arial"/>
              </a:defRPr>
            </a:pPr>
            <a:r>
              <a:t>4. Anatomía y Construcción Física del E-MOSFET</a:t>
            </a:r>
          </a:p>
        </p:txBody>
      </p:sp>
      <p:sp>
        <p:nvSpPr>
          <p:cNvPr id="5" name="Rectangle 4"/>
          <p:cNvSpPr/>
          <p:nvPr/>
        </p:nvSpPr>
        <p:spPr>
          <a:xfrm>
            <a:off x="0" y="6565392"/>
            <a:ext cx="7772400" cy="54864"/>
          </a:xfrm>
          <a:prstGeom prst="rect">
            <a:avLst/>
          </a:prstGeom>
          <a:solidFill>
            <a:srgbClr val="00C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0" y="6565392"/>
            <a:ext cx="4419295" cy="54864"/>
          </a:xfrm>
          <a:prstGeom prst="rect">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601968"/>
            <a:ext cx="10698480" cy="228600"/>
          </a:xfrm>
          <a:prstGeom prst="rect">
            <a:avLst/>
          </a:prstGeom>
          <a:noFill/>
        </p:spPr>
        <p:txBody>
          <a:bodyPr wrap="none">
            <a:spAutoFit/>
          </a:bodyPr>
          <a:lstStyle/>
          <a:p>
            <a:pPr>
              <a:defRPr sz="900">
                <a:solidFill>
                  <a:srgbClr val="94A3B8"/>
                </a:solidFill>
                <a:latin typeface="Arial"/>
              </a:defRPr>
            </a:pPr>
            <a:r>
              <a:t>Institución Universitaria ITM  |  Electrónica Analógica y Laboratorio  |  Docente: Fredy Andrés Torres Muñoz  |  www.itm.edu.co</a:t>
            </a:r>
          </a:p>
        </p:txBody>
      </p:sp>
      <p:pic>
        <p:nvPicPr>
          <p:cNvPr id="8" name="Picture 7" descr="diagrama_estructura_fisica.png"/>
          <p:cNvPicPr>
            <a:picLocks noChangeAspect="1"/>
          </p:cNvPicPr>
          <p:nvPr/>
        </p:nvPicPr>
        <p:blipFill>
          <a:blip r:embed="rId2"/>
          <a:stretch>
            <a:fillRect/>
          </a:stretch>
        </p:blipFill>
        <p:spPr>
          <a:xfrm>
            <a:off x="731520" y="1463040"/>
            <a:ext cx="6217920" cy="3233318"/>
          </a:xfrm>
          <a:prstGeom prst="rect">
            <a:avLst/>
          </a:prstGeom>
        </p:spPr>
      </p:pic>
      <p:sp>
        <p:nvSpPr>
          <p:cNvPr id="9" name="Rounded Rectangle 8"/>
          <p:cNvSpPr/>
          <p:nvPr/>
        </p:nvSpPr>
        <p:spPr>
          <a:xfrm>
            <a:off x="7132320" y="1463040"/>
            <a:ext cx="4297680" cy="4846320"/>
          </a:xfrm>
          <a:prstGeom prst="roundRect">
            <a:avLst/>
          </a:prstGeom>
          <a:solidFill>
            <a:srgbClr val="12264D"/>
          </a:solidFill>
          <a:ln w="19050">
            <a:solidFill>
              <a:srgbClr val="00C0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0" y="1645920"/>
            <a:ext cx="3931920" cy="4389120"/>
          </a:xfrm>
          <a:prstGeom prst="rect">
            <a:avLst/>
          </a:prstGeom>
          <a:noFill/>
        </p:spPr>
        <p:txBody>
          <a:bodyPr wrap="square">
            <a:spAutoFit/>
          </a:bodyPr>
          <a:lstStyle/>
          <a:p>
            <a:pPr>
              <a:defRPr b="1" sz="1500">
                <a:solidFill>
                  <a:srgbClr val="FFB800"/>
                </a:solidFill>
              </a:defRPr>
            </a:pPr>
            <a:r>
              <a:t>ELEMENTOS CLAVE DE CONSTRUCCIÓN</a:t>
            </a:r>
          </a:p>
          <a:p>
            <a:pPr>
              <a:defRPr sz="1100">
                <a:solidFill>
                  <a:srgbClr val="CBD5E1"/>
                </a:solidFill>
              </a:defRPr>
            </a:pPr>
            <a:r>
              <a:t>• Sustrato tipo P: Oblea de silicio base donde los huecos son portadores mayoritarios.</a:t>
            </a:r>
          </a:p>
          <a:p>
            <a:pPr>
              <a:defRPr sz="1100">
                <a:solidFill>
                  <a:srgbClr val="CBD5E1"/>
                </a:solidFill>
              </a:defRPr>
            </a:pPr>
            <a:r>
              <a:t>• Pozos N+ (D y S): Regiones fuertemente dopadas con donadores de electrones. Forman los contactos de Drenador y Fuente.</a:t>
            </a:r>
          </a:p>
          <a:p>
            <a:pPr>
              <a:defRPr sz="1100">
                <a:solidFill>
                  <a:srgbClr val="CBD5E1"/>
                </a:solidFill>
              </a:defRPr>
            </a:pPr>
            <a:r>
              <a:t>• Dieléctrico de SiO2: Película de óxido de silicio ultra delgada (&lt; 100 nm). Actúa como un condensador perfecto.</a:t>
            </a:r>
          </a:p>
          <a:p>
            <a:pPr>
              <a:defRPr sz="1100">
                <a:solidFill>
                  <a:srgbClr val="CBD5E1"/>
                </a:solidFill>
              </a:defRPr>
            </a:pPr>
            <a:r>
              <a:t>• Electrodo de Compuerta: Metal o silicio policristalino. No tiene conexión óhmica con el silicio: aislamiento galvánico total.</a:t>
            </a:r>
          </a:p>
          <a:p>
            <a:pPr>
              <a:defRPr sz="1100">
                <a:solidFill>
                  <a:srgbClr val="CBD5E1"/>
                </a:solidFill>
              </a:defRPr>
            </a:pPr>
            <a:r>
              <a:t>• Condición inicial (V_GS = 0 V): Dos uniones P-N en oposición (N+-P-N+) bloquean todo flujo. El transistor está en circuito abierto.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B3D"/>
          </a:solidFill>
          <a:ln>
            <a:solidFill>
              <a:srgbClr val="0B1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515600" cy="320040"/>
          </a:xfrm>
          <a:prstGeom prst="rect">
            <a:avLst/>
          </a:prstGeom>
          <a:noFill/>
        </p:spPr>
        <p:txBody>
          <a:bodyPr wrap="square">
            <a:spAutoFit/>
          </a:bodyPr>
          <a:lstStyle/>
          <a:p>
            <a:pPr>
              <a:defRPr sz="1100" b="1">
                <a:solidFill>
                  <a:srgbClr val="FFB800"/>
                </a:solidFill>
                <a:latin typeface="Arial"/>
              </a:defRPr>
            </a:pPr>
            <a:r>
              <a:t>MECANISMO ELECTROSTÁTICO</a:t>
            </a:r>
          </a:p>
        </p:txBody>
      </p:sp>
      <p:sp>
        <p:nvSpPr>
          <p:cNvPr id="4" name="TextBox 3"/>
          <p:cNvSpPr txBox="1"/>
          <p:nvPr/>
        </p:nvSpPr>
        <p:spPr>
          <a:xfrm>
            <a:off x="731520" y="594360"/>
            <a:ext cx="10515600" cy="685800"/>
          </a:xfrm>
          <a:prstGeom prst="rect">
            <a:avLst/>
          </a:prstGeom>
          <a:noFill/>
        </p:spPr>
        <p:txBody>
          <a:bodyPr wrap="square">
            <a:spAutoFit/>
          </a:bodyPr>
          <a:lstStyle/>
          <a:p>
            <a:pPr>
              <a:defRPr sz="2200" b="1">
                <a:solidFill>
                  <a:srgbClr val="FFFFFF"/>
                </a:solidFill>
                <a:latin typeface="Arial"/>
              </a:defRPr>
            </a:pPr>
            <a:r>
              <a:t>5. Inducción del Canal y Voltaje Umbral (V_GS(th))</a:t>
            </a:r>
          </a:p>
        </p:txBody>
      </p:sp>
      <p:sp>
        <p:nvSpPr>
          <p:cNvPr id="5" name="Rectangle 4"/>
          <p:cNvSpPr/>
          <p:nvPr/>
        </p:nvSpPr>
        <p:spPr>
          <a:xfrm>
            <a:off x="0" y="6565392"/>
            <a:ext cx="7772400" cy="54864"/>
          </a:xfrm>
          <a:prstGeom prst="rect">
            <a:avLst/>
          </a:prstGeom>
          <a:solidFill>
            <a:srgbClr val="00C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0" y="6565392"/>
            <a:ext cx="4419295" cy="54864"/>
          </a:xfrm>
          <a:prstGeom prst="rect">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601968"/>
            <a:ext cx="10698480" cy="228600"/>
          </a:xfrm>
          <a:prstGeom prst="rect">
            <a:avLst/>
          </a:prstGeom>
          <a:noFill/>
        </p:spPr>
        <p:txBody>
          <a:bodyPr wrap="none">
            <a:spAutoFit/>
          </a:bodyPr>
          <a:lstStyle/>
          <a:p>
            <a:pPr>
              <a:defRPr sz="900">
                <a:solidFill>
                  <a:srgbClr val="94A3B8"/>
                </a:solidFill>
                <a:latin typeface="Arial"/>
              </a:defRPr>
            </a:pPr>
            <a:r>
              <a:t>Institución Universitaria ITM  |  Electrónica Analógica y Laboratorio  |  Docente: Fredy Andrés Torres Muñoz  |  www.itm.edu.co</a:t>
            </a:r>
          </a:p>
        </p:txBody>
      </p:sp>
      <p:sp>
        <p:nvSpPr>
          <p:cNvPr id="8" name="Rounded Rectangle 7"/>
          <p:cNvSpPr/>
          <p:nvPr/>
        </p:nvSpPr>
        <p:spPr>
          <a:xfrm>
            <a:off x="731520" y="1463040"/>
            <a:ext cx="3328416" cy="3291840"/>
          </a:xfrm>
          <a:prstGeom prst="roundRect">
            <a:avLst/>
          </a:prstGeom>
          <a:solidFill>
            <a:srgbClr val="12264D"/>
          </a:solidFill>
          <a:ln w="19050">
            <a:solidFill>
              <a:srgbClr val="00C0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45920"/>
            <a:ext cx="3017520" cy="2926080"/>
          </a:xfrm>
          <a:prstGeom prst="rect">
            <a:avLst/>
          </a:prstGeom>
          <a:noFill/>
        </p:spPr>
        <p:txBody>
          <a:bodyPr wrap="square">
            <a:spAutoFit/>
          </a:bodyPr>
          <a:lstStyle/>
          <a:p>
            <a:pPr>
              <a:defRPr b="1" sz="1500">
                <a:solidFill>
                  <a:srgbClr val="00C0F3"/>
                </a:solidFill>
              </a:defRPr>
            </a:pPr>
            <a:r>
              <a:t>FASE 1: Repulsión</a:t>
            </a:r>
          </a:p>
          <a:p>
            <a:pPr>
              <a:defRPr sz="1100">
                <a:solidFill>
                  <a:srgbClr val="CBD5E1"/>
                </a:solidFill>
              </a:defRPr>
            </a:pPr>
            <a:r>
              <a:t>• Al aplicar V_GS &gt; 0 V pequeño, el potencial positivo en la compuerta repele los huecos del sustrato P lejos de la interfaz con el óxido.</a:t>
            </a:r>
            <a:br/>
            <a:r>
              <a:t>• Se forma una zona de agotamiento desierta de portadores libres, dejando iones aceptores negativos inmóviles.</a:t>
            </a:r>
          </a:p>
        </p:txBody>
      </p:sp>
      <p:sp>
        <p:nvSpPr>
          <p:cNvPr id="10" name="Rounded Rectangle 9"/>
          <p:cNvSpPr/>
          <p:nvPr/>
        </p:nvSpPr>
        <p:spPr>
          <a:xfrm>
            <a:off x="4425696" y="1463040"/>
            <a:ext cx="3328416" cy="3291840"/>
          </a:xfrm>
          <a:prstGeom prst="roundRect">
            <a:avLst/>
          </a:prstGeom>
          <a:solidFill>
            <a:srgbClr val="12264D"/>
          </a:solidFill>
          <a:ln w="19050">
            <a:solidFill>
              <a:srgbClr val="FFB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1645920"/>
            <a:ext cx="3017520" cy="2926080"/>
          </a:xfrm>
          <a:prstGeom prst="rect">
            <a:avLst/>
          </a:prstGeom>
          <a:noFill/>
        </p:spPr>
        <p:txBody>
          <a:bodyPr wrap="square">
            <a:spAutoFit/>
          </a:bodyPr>
          <a:lstStyle/>
          <a:p>
            <a:pPr>
              <a:defRPr b="1" sz="1500">
                <a:solidFill>
                  <a:srgbClr val="FFB800"/>
                </a:solidFill>
              </a:defRPr>
            </a:pPr>
            <a:r>
              <a:t>FASE 2: Tensión Umbral</a:t>
            </a:r>
          </a:p>
          <a:p>
            <a:pPr>
              <a:defRPr sz="1100">
                <a:solidFill>
                  <a:srgbClr val="CBD5E1"/>
                </a:solidFill>
              </a:defRPr>
            </a:pPr>
            <a:r>
              <a:t>• Al alcanzar V_GS = V_GS(th), el campo eléctrico es suficientemente intenso para atraer los electrones libres minoritarios del sustrato hacia la superficie del óxido.</a:t>
            </a:r>
            <a:br/>
            <a:r>
              <a:t>• V_GS(th) típico: 1.0 V a 3.0 V en señal pequeña; 2.0 V a 4.5 V en potencia.</a:t>
            </a:r>
          </a:p>
        </p:txBody>
      </p:sp>
      <p:sp>
        <p:nvSpPr>
          <p:cNvPr id="12" name="Rounded Rectangle 11"/>
          <p:cNvSpPr/>
          <p:nvPr/>
        </p:nvSpPr>
        <p:spPr>
          <a:xfrm>
            <a:off x="8119872" y="1463040"/>
            <a:ext cx="3328416" cy="3291840"/>
          </a:xfrm>
          <a:prstGeom prst="roundRect">
            <a:avLst/>
          </a:prstGeom>
          <a:solidFill>
            <a:srgbClr val="12264D"/>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75320" y="1645920"/>
            <a:ext cx="3017520" cy="2926080"/>
          </a:xfrm>
          <a:prstGeom prst="rect">
            <a:avLst/>
          </a:prstGeom>
          <a:noFill/>
        </p:spPr>
        <p:txBody>
          <a:bodyPr wrap="square">
            <a:spAutoFit/>
          </a:bodyPr>
          <a:lstStyle/>
          <a:p>
            <a:pPr>
              <a:defRPr b="1" sz="1500">
                <a:solidFill>
                  <a:srgbClr val="34D399"/>
                </a:solidFill>
              </a:defRPr>
            </a:pPr>
            <a:r>
              <a:t>FASE 3: Inversión Fuerte</a:t>
            </a:r>
          </a:p>
          <a:p>
            <a:pPr>
              <a:defRPr sz="1100">
                <a:solidFill>
                  <a:srgbClr val="CBD5E1"/>
                </a:solidFill>
              </a:defRPr>
            </a:pPr>
            <a:r>
              <a:t>• Con V_GS &gt; V_GS(th), la concentración de electrones en la superficie supera la de huecos: ¡la superficie tipo P se invierte a tipo N!</a:t>
            </a:r>
            <a:br/>
            <a:r>
              <a:t>• Se establece un puente continuo de baja resistencia entre Fuente y Drenador: el canal está abierto.</a:t>
            </a:r>
          </a:p>
        </p:txBody>
      </p:sp>
      <p:sp>
        <p:nvSpPr>
          <p:cNvPr id="14" name="Rounded Rectangle 13"/>
          <p:cNvSpPr/>
          <p:nvPr/>
        </p:nvSpPr>
        <p:spPr>
          <a:xfrm>
            <a:off x="731520" y="4937760"/>
            <a:ext cx="10728655" cy="1371600"/>
          </a:xfrm>
          <a:prstGeom prst="roundRect">
            <a:avLst/>
          </a:prstGeom>
          <a:solidFill>
            <a:srgbClr val="10264D"/>
          </a:solidFill>
          <a:ln w="19050">
            <a:solidFill>
              <a:srgbClr val="FFB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5029200"/>
            <a:ext cx="10149840" cy="1188720"/>
          </a:xfrm>
          <a:prstGeom prst="rect">
            <a:avLst/>
          </a:prstGeom>
          <a:noFill/>
        </p:spPr>
        <p:txBody>
          <a:bodyPr wrap="none">
            <a:spAutoFit/>
          </a:bodyPr>
          <a:lstStyle/>
          <a:p>
            <a:pPr>
              <a:defRPr b="1" sz="1200">
                <a:solidFill>
                  <a:srgbClr val="FFB800"/>
                </a:solidFill>
              </a:defRPr>
            </a:pPr>
            <a:r>
              <a:t>DEFINICIÓN FORMAL SEGÚN BOYLESTAD &amp; NASHELSKY:</a:t>
            </a:r>
          </a:p>
          <a:p>
            <a:pPr>
              <a:defRPr sz="1100">
                <a:solidFill>
                  <a:srgbClr val="FFFFFF"/>
                </a:solidFill>
              </a:defRPr>
            </a:pPr>
            <a:r>
              <a:t>El Voltaje Umbral V_GS(th) es el nivel de potencial compuerta-fuente indispensable para crear la capa de inversión y establecer una corriente de drenaje mensurable (I_D &gt; 10 µA). Por debajo de V_GS(th), el canal no existe y el dispositivo permanece en estado de corte total.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B3D"/>
          </a:solidFill>
          <a:ln>
            <a:solidFill>
              <a:srgbClr val="0B1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515600" cy="320040"/>
          </a:xfrm>
          <a:prstGeom prst="rect">
            <a:avLst/>
          </a:prstGeom>
          <a:noFill/>
        </p:spPr>
        <p:txBody>
          <a:bodyPr wrap="square">
            <a:spAutoFit/>
          </a:bodyPr>
          <a:lstStyle/>
          <a:p>
            <a:pPr>
              <a:defRPr sz="1100" b="1">
                <a:solidFill>
                  <a:srgbClr val="FFB800"/>
                </a:solidFill>
                <a:latin typeface="Arial"/>
              </a:defRPr>
            </a:pPr>
            <a:r>
              <a:t>OPERACIÓN Y MODELADO</a:t>
            </a:r>
          </a:p>
        </p:txBody>
      </p:sp>
      <p:sp>
        <p:nvSpPr>
          <p:cNvPr id="4" name="TextBox 3"/>
          <p:cNvSpPr txBox="1"/>
          <p:nvPr/>
        </p:nvSpPr>
        <p:spPr>
          <a:xfrm>
            <a:off x="731520" y="594360"/>
            <a:ext cx="10515600" cy="685800"/>
          </a:xfrm>
          <a:prstGeom prst="rect">
            <a:avLst/>
          </a:prstGeom>
          <a:noFill/>
        </p:spPr>
        <p:txBody>
          <a:bodyPr wrap="square">
            <a:spAutoFit/>
          </a:bodyPr>
          <a:lstStyle/>
          <a:p>
            <a:pPr>
              <a:defRPr sz="2200" b="1">
                <a:solidFill>
                  <a:srgbClr val="FFFFFF"/>
                </a:solidFill>
                <a:latin typeface="Arial"/>
              </a:defRPr>
            </a:pPr>
            <a:r>
              <a:t>6. Las Tres Regiones de Operación: Corte, Óhmica y Saturación</a:t>
            </a:r>
          </a:p>
        </p:txBody>
      </p:sp>
      <p:sp>
        <p:nvSpPr>
          <p:cNvPr id="5" name="Rectangle 4"/>
          <p:cNvSpPr/>
          <p:nvPr/>
        </p:nvSpPr>
        <p:spPr>
          <a:xfrm>
            <a:off x="0" y="6565392"/>
            <a:ext cx="7772400" cy="54864"/>
          </a:xfrm>
          <a:prstGeom prst="rect">
            <a:avLst/>
          </a:prstGeom>
          <a:solidFill>
            <a:srgbClr val="00C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0" y="6565392"/>
            <a:ext cx="4419295" cy="54864"/>
          </a:xfrm>
          <a:prstGeom prst="rect">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601968"/>
            <a:ext cx="10698480" cy="228600"/>
          </a:xfrm>
          <a:prstGeom prst="rect">
            <a:avLst/>
          </a:prstGeom>
          <a:noFill/>
        </p:spPr>
        <p:txBody>
          <a:bodyPr wrap="none">
            <a:spAutoFit/>
          </a:bodyPr>
          <a:lstStyle/>
          <a:p>
            <a:pPr>
              <a:defRPr sz="900">
                <a:solidFill>
                  <a:srgbClr val="94A3B8"/>
                </a:solidFill>
                <a:latin typeface="Arial"/>
              </a:defRPr>
            </a:pPr>
            <a:r>
              <a:t>Institución Universitaria ITM  |  Electrónica Analógica y Laboratorio  |  Docente: Fredy Andrés Torres Muñoz  |  www.itm.edu.co</a:t>
            </a:r>
          </a:p>
        </p:txBody>
      </p:sp>
      <p:sp>
        <p:nvSpPr>
          <p:cNvPr id="8" name="Rounded Rectangle 7"/>
          <p:cNvSpPr/>
          <p:nvPr/>
        </p:nvSpPr>
        <p:spPr>
          <a:xfrm>
            <a:off x="731520" y="1371600"/>
            <a:ext cx="10728655" cy="960120"/>
          </a:xfrm>
          <a:prstGeom prst="roundRect">
            <a:avLst/>
          </a:prstGeom>
          <a:solidFill>
            <a:srgbClr val="371419"/>
          </a:solidFill>
          <a:ln w="1905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417320"/>
            <a:ext cx="10332720" cy="868680"/>
          </a:xfrm>
          <a:prstGeom prst="rect">
            <a:avLst/>
          </a:prstGeom>
          <a:noFill/>
        </p:spPr>
        <p:txBody>
          <a:bodyPr wrap="square">
            <a:spAutoFit/>
          </a:bodyPr>
          <a:lstStyle/>
          <a:p>
            <a:pPr>
              <a:defRPr b="1" sz="1200">
                <a:solidFill>
                  <a:srgbClr val="F87171"/>
                </a:solidFill>
              </a:defRPr>
            </a:pPr>
            <a:r>
              <a:t>¡ALERTA PEDAGÓGICA SENIOR: TRAMPA TERMINOLÓGICA DE EXAMEN!</a:t>
            </a:r>
          </a:p>
          <a:p>
            <a:pPr>
              <a:defRPr sz="1050">
                <a:solidFill>
                  <a:srgbClr val="FFFFFF"/>
                </a:solidFill>
              </a:defRPr>
            </a:pPr>
            <a:r>
              <a:t>• En el BJT: 'Saturación' significa interruptor cerrado (máxima corriente, V_CE ~ 0.2 V).</a:t>
            </a:r>
            <a:br/>
            <a:r>
              <a:t>• En el MOSFET: 'Saturación' significa FUENTE DE CORRIENTE CONSTANTE (estrangulamiento / zona activa de amplificación). El estado de interruptor cerrado en MOSFET se llama REGIÓN ÓHMICA O TRIODO.</a:t>
            </a:r>
          </a:p>
        </p:txBody>
      </p:sp>
      <p:sp>
        <p:nvSpPr>
          <p:cNvPr id="10" name="Rounded Rectangle 9"/>
          <p:cNvSpPr/>
          <p:nvPr/>
        </p:nvSpPr>
        <p:spPr>
          <a:xfrm>
            <a:off x="731520" y="2514600"/>
            <a:ext cx="3328416" cy="3749039"/>
          </a:xfrm>
          <a:prstGeom prst="roundRect">
            <a:avLst/>
          </a:prstGeom>
          <a:solidFill>
            <a:srgbClr val="12264D"/>
          </a:solidFill>
          <a:ln w="1905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651760"/>
            <a:ext cx="3054096" cy="3474720"/>
          </a:xfrm>
          <a:prstGeom prst="rect">
            <a:avLst/>
          </a:prstGeom>
          <a:noFill/>
        </p:spPr>
        <p:txBody>
          <a:bodyPr wrap="square">
            <a:spAutoFit/>
          </a:bodyPr>
          <a:lstStyle/>
          <a:p>
            <a:pPr>
              <a:defRPr b="1" sz="1400">
                <a:solidFill>
                  <a:srgbClr val="F87171"/>
                </a:solidFill>
              </a:defRPr>
            </a:pPr>
            <a:r>
              <a:t>1. REGIÓN DE CORTE</a:t>
            </a:r>
          </a:p>
          <a:p>
            <a:pPr>
              <a:defRPr sz="1050">
                <a:solidFill>
                  <a:srgbClr val="CBD5E1"/>
                </a:solidFill>
              </a:defRPr>
            </a:pPr>
            <a:r>
              <a:t>• Condición: V_GS &lt; V_GS(th)</a:t>
            </a:r>
          </a:p>
          <a:p>
            <a:pPr>
              <a:defRPr sz="1050">
                <a:solidFill>
                  <a:srgbClr val="CBD5E1"/>
                </a:solidFill>
              </a:defRPr>
            </a:pPr>
            <a:r>
              <a:t>• Corriente: I_D = 0 A  (I_G = 0 A)</a:t>
            </a:r>
          </a:p>
          <a:p>
            <a:pPr>
              <a:defRPr sz="1050">
                <a:solidFill>
                  <a:srgbClr val="CBD5E1"/>
                </a:solidFill>
              </a:defRPr>
            </a:pPr>
            <a:r>
              <a:t>• Estado circuital: Interruptor abierto.</a:t>
            </a:r>
          </a:p>
          <a:p>
            <a:pPr>
              <a:defRPr sz="1050">
                <a:solidFill>
                  <a:srgbClr val="CBD5E1"/>
                </a:solidFill>
              </a:defRPr>
            </a:pPr>
            <a:r>
              <a:t>• Resistencia D-S: R_DS ≈ ∞  (cientos de MΩ)</a:t>
            </a:r>
          </a:p>
          <a:p>
            <a:pPr>
              <a:defRPr sz="1050">
                <a:solidFill>
                  <a:srgbClr val="CBD5E1"/>
                </a:solidFill>
              </a:defRPr>
            </a:pPr>
            <a:r>
              <a:t>• Aplicación: Estado apagado (OFF) en conmutadores digitales y relés.</a:t>
            </a:r>
          </a:p>
        </p:txBody>
      </p:sp>
      <p:sp>
        <p:nvSpPr>
          <p:cNvPr id="12" name="Rounded Rectangle 11"/>
          <p:cNvSpPr/>
          <p:nvPr/>
        </p:nvSpPr>
        <p:spPr>
          <a:xfrm>
            <a:off x="4425696" y="2514600"/>
            <a:ext cx="3328416" cy="3749039"/>
          </a:xfrm>
          <a:prstGeom prst="roundRect">
            <a:avLst/>
          </a:prstGeom>
          <a:solidFill>
            <a:srgbClr val="12264D"/>
          </a:solidFill>
          <a:ln w="19050">
            <a:solidFill>
              <a:srgbClr val="00C0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2651760"/>
            <a:ext cx="3054096" cy="3474720"/>
          </a:xfrm>
          <a:prstGeom prst="rect">
            <a:avLst/>
          </a:prstGeom>
          <a:noFill/>
        </p:spPr>
        <p:txBody>
          <a:bodyPr wrap="square">
            <a:spAutoFit/>
          </a:bodyPr>
          <a:lstStyle/>
          <a:p>
            <a:pPr>
              <a:defRPr b="1" sz="1400">
                <a:solidFill>
                  <a:srgbClr val="00C0F3"/>
                </a:solidFill>
              </a:defRPr>
            </a:pPr>
            <a:r>
              <a:t>2. REGIÓN ÓHMICA / TRIODO</a:t>
            </a:r>
          </a:p>
          <a:p>
            <a:pPr>
              <a:defRPr sz="1050">
                <a:solidFill>
                  <a:srgbClr val="CBD5E1"/>
                </a:solidFill>
              </a:defRPr>
            </a:pPr>
            <a:r>
              <a:t>• Condición: V_GS ≥ V_GS(th)  Y  V_DS &lt; V_GS - V_GS(th)</a:t>
            </a:r>
          </a:p>
          <a:p>
            <a:pPr>
              <a:defRPr sz="1050">
                <a:solidFill>
                  <a:srgbClr val="CBD5E1"/>
                </a:solidFill>
              </a:defRPr>
            </a:pPr>
            <a:r>
              <a:t>• Física: Canal continuo de Fuente a Drenador sin estrangulamiento.</a:t>
            </a:r>
          </a:p>
          <a:p>
            <a:pPr>
              <a:defRPr sz="1050">
                <a:solidFill>
                  <a:srgbClr val="CBD5E1"/>
                </a:solidFill>
              </a:defRPr>
            </a:pPr>
            <a:r>
              <a:t>• Comportamiento: Resistencia pura controlada por tensión (R_DS(on)).</a:t>
            </a:r>
          </a:p>
          <a:p>
            <a:pPr>
              <a:defRPr sz="1050">
                <a:solidFill>
                  <a:srgbClr val="CBD5E1"/>
                </a:solidFill>
              </a:defRPr>
            </a:pPr>
            <a:r>
              <a:t>• Ecuación: I_D ≈ k · [2(V_GS - V_th)V_DS - V_DS²]</a:t>
            </a:r>
          </a:p>
          <a:p>
            <a:pPr>
              <a:defRPr sz="1050">
                <a:solidFill>
                  <a:srgbClr val="CBD5E1"/>
                </a:solidFill>
              </a:defRPr>
            </a:pPr>
            <a:r>
              <a:t>• Aplicación: Interruptor cerrado (ON) de alta eficiencia en fuentes conmutadas.</a:t>
            </a:r>
          </a:p>
        </p:txBody>
      </p:sp>
      <p:sp>
        <p:nvSpPr>
          <p:cNvPr id="14" name="Rounded Rectangle 13"/>
          <p:cNvSpPr/>
          <p:nvPr/>
        </p:nvSpPr>
        <p:spPr>
          <a:xfrm>
            <a:off x="8119872" y="2514600"/>
            <a:ext cx="3328416" cy="3749039"/>
          </a:xfrm>
          <a:prstGeom prst="roundRect">
            <a:avLst/>
          </a:prstGeom>
          <a:solidFill>
            <a:srgbClr val="12264D"/>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75320" y="2651760"/>
            <a:ext cx="3054096" cy="3474720"/>
          </a:xfrm>
          <a:prstGeom prst="rect">
            <a:avLst/>
          </a:prstGeom>
          <a:noFill/>
        </p:spPr>
        <p:txBody>
          <a:bodyPr wrap="square">
            <a:spAutoFit/>
          </a:bodyPr>
          <a:lstStyle/>
          <a:p>
            <a:pPr>
              <a:defRPr b="1" sz="1400">
                <a:solidFill>
                  <a:srgbClr val="34D399"/>
                </a:solidFill>
              </a:defRPr>
            </a:pPr>
            <a:r>
              <a:t>3. REGIÓN DE SATURACIÓN</a:t>
            </a:r>
          </a:p>
          <a:p>
            <a:pPr>
              <a:defRPr sz="1050">
                <a:solidFill>
                  <a:srgbClr val="CBD5E1"/>
                </a:solidFill>
              </a:defRPr>
            </a:pPr>
            <a:r>
              <a:t>• Condición: V_GS ≥ V_GS(th)  Y  V_DS ≥ V_GS - V_GS(th)</a:t>
            </a:r>
          </a:p>
          <a:p>
            <a:pPr>
              <a:defRPr sz="1050">
                <a:solidFill>
                  <a:srgbClr val="CBD5E1"/>
                </a:solidFill>
              </a:defRPr>
            </a:pPr>
            <a:r>
              <a:t>• Física: Estrangulamiento (pinch-off) del canal en el extremo del drenador.</a:t>
            </a:r>
          </a:p>
          <a:p>
            <a:pPr>
              <a:defRPr sz="1050">
                <a:solidFill>
                  <a:srgbClr val="CBD5E1"/>
                </a:solidFill>
              </a:defRPr>
            </a:pPr>
            <a:r>
              <a:t>• Comportamiento: Fuente de corriente controlada por V_GS (I_D casi independiente de V_DS).</a:t>
            </a:r>
          </a:p>
          <a:p>
            <a:pPr>
              <a:defRPr sz="1050">
                <a:solidFill>
                  <a:srgbClr val="CBD5E1"/>
                </a:solidFill>
              </a:defRPr>
            </a:pPr>
            <a:r>
              <a:t>• Ecuación Boylestad: I_D = k · (V_GS - V_GS(th))²</a:t>
            </a:r>
          </a:p>
          <a:p>
            <a:pPr>
              <a:defRPr sz="1050">
                <a:solidFill>
                  <a:srgbClr val="CBD5E1"/>
                </a:solidFill>
              </a:defRPr>
            </a:pPr>
            <a:r>
              <a:t>• Aplicación: Amplificadores analógicos de señal y fuentes de corriente.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B3D"/>
          </a:solidFill>
          <a:ln>
            <a:solidFill>
              <a:srgbClr val="0B1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515600" cy="320040"/>
          </a:xfrm>
          <a:prstGeom prst="rect">
            <a:avLst/>
          </a:prstGeom>
          <a:noFill/>
        </p:spPr>
        <p:txBody>
          <a:bodyPr wrap="square">
            <a:spAutoFit/>
          </a:bodyPr>
          <a:lstStyle/>
          <a:p>
            <a:pPr>
              <a:defRPr sz="1100" b="1">
                <a:solidFill>
                  <a:srgbClr val="FFB800"/>
                </a:solidFill>
                <a:latin typeface="Arial"/>
              </a:defRPr>
            </a:pPr>
            <a:r>
              <a:t>MODELADO MATEMÁTICO</a:t>
            </a:r>
          </a:p>
        </p:txBody>
      </p:sp>
      <p:sp>
        <p:nvSpPr>
          <p:cNvPr id="4" name="TextBox 3"/>
          <p:cNvSpPr txBox="1"/>
          <p:nvPr/>
        </p:nvSpPr>
        <p:spPr>
          <a:xfrm>
            <a:off x="731520" y="594360"/>
            <a:ext cx="10515600" cy="685800"/>
          </a:xfrm>
          <a:prstGeom prst="rect">
            <a:avLst/>
          </a:prstGeom>
          <a:noFill/>
        </p:spPr>
        <p:txBody>
          <a:bodyPr wrap="square">
            <a:spAutoFit/>
          </a:bodyPr>
          <a:lstStyle/>
          <a:p>
            <a:pPr>
              <a:defRPr sz="2200" b="1">
                <a:solidFill>
                  <a:srgbClr val="FFFFFF"/>
                </a:solidFill>
                <a:latin typeface="Arial"/>
              </a:defRPr>
            </a:pPr>
            <a:r>
              <a:t>7. Ecuación Cuadrática Fundamental y Curvas Duales</a:t>
            </a:r>
          </a:p>
        </p:txBody>
      </p:sp>
      <p:sp>
        <p:nvSpPr>
          <p:cNvPr id="5" name="Rectangle 4"/>
          <p:cNvSpPr/>
          <p:nvPr/>
        </p:nvSpPr>
        <p:spPr>
          <a:xfrm>
            <a:off x="0" y="6565392"/>
            <a:ext cx="7772400" cy="54864"/>
          </a:xfrm>
          <a:prstGeom prst="rect">
            <a:avLst/>
          </a:prstGeom>
          <a:solidFill>
            <a:srgbClr val="00C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0" y="6565392"/>
            <a:ext cx="4419295" cy="54864"/>
          </a:xfrm>
          <a:prstGeom prst="rect">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601968"/>
            <a:ext cx="10698480" cy="228600"/>
          </a:xfrm>
          <a:prstGeom prst="rect">
            <a:avLst/>
          </a:prstGeom>
          <a:noFill/>
        </p:spPr>
        <p:txBody>
          <a:bodyPr wrap="none">
            <a:spAutoFit/>
          </a:bodyPr>
          <a:lstStyle/>
          <a:p>
            <a:pPr>
              <a:defRPr sz="900">
                <a:solidFill>
                  <a:srgbClr val="94A3B8"/>
                </a:solidFill>
                <a:latin typeface="Arial"/>
              </a:defRPr>
            </a:pPr>
            <a:r>
              <a:t>Institución Universitaria ITM  |  Electrónica Analógica y Laboratorio  |  Docente: Fredy Andrés Torres Muñoz  |  www.itm.edu.co</a:t>
            </a:r>
          </a:p>
        </p:txBody>
      </p:sp>
      <p:pic>
        <p:nvPicPr>
          <p:cNvPr id="8" name="Picture 7" descr="diagrama_curvas_mosfet.png"/>
          <p:cNvPicPr>
            <a:picLocks noChangeAspect="1"/>
          </p:cNvPicPr>
          <p:nvPr/>
        </p:nvPicPr>
        <p:blipFill>
          <a:blip r:embed="rId2"/>
          <a:stretch>
            <a:fillRect/>
          </a:stretch>
        </p:blipFill>
        <p:spPr>
          <a:xfrm>
            <a:off x="731520" y="1371600"/>
            <a:ext cx="6675120" cy="3337560"/>
          </a:xfrm>
          <a:prstGeom prst="rect">
            <a:avLst/>
          </a:prstGeom>
        </p:spPr>
      </p:pic>
      <p:sp>
        <p:nvSpPr>
          <p:cNvPr id="9" name="Rounded Rectangle 8"/>
          <p:cNvSpPr/>
          <p:nvPr/>
        </p:nvSpPr>
        <p:spPr>
          <a:xfrm>
            <a:off x="7589520" y="1371600"/>
            <a:ext cx="3840480" cy="4937760"/>
          </a:xfrm>
          <a:prstGeom prst="roundRect">
            <a:avLst/>
          </a:prstGeom>
          <a:solidFill>
            <a:srgbClr val="12264D"/>
          </a:solidFill>
          <a:ln w="19050">
            <a:solidFill>
              <a:srgbClr val="FFB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0" y="1554480"/>
            <a:ext cx="3474720" cy="4572000"/>
          </a:xfrm>
          <a:prstGeom prst="rect">
            <a:avLst/>
          </a:prstGeom>
          <a:noFill/>
        </p:spPr>
        <p:txBody>
          <a:bodyPr wrap="square">
            <a:spAutoFit/>
          </a:bodyPr>
          <a:lstStyle/>
          <a:p>
            <a:pPr>
              <a:defRPr b="1" sz="1400">
                <a:solidFill>
                  <a:srgbClr val="FFB800"/>
                </a:solidFill>
              </a:defRPr>
            </a:pPr>
            <a:r>
              <a:t>ECUACIONES DE BOYLESTAD</a:t>
            </a:r>
          </a:p>
          <a:p>
            <a:pPr>
              <a:defRPr sz="1000">
                <a:solidFill>
                  <a:srgbClr val="CBD5E1"/>
                </a:solidFill>
              </a:defRPr>
            </a:pPr>
            <a:r>
              <a:t>• Ecuación de Saturación:</a:t>
            </a:r>
            <a:br/>
            <a:r>
              <a:t>I_D = k · (V_GS - V_GS(th))²</a:t>
            </a:r>
            <a:br/>
            <a:r>
              <a:t>LaTeX: \[ I_D = k (V_{GS} - V_{GS(th)})^2 \]</a:t>
            </a:r>
          </a:p>
          <a:p>
            <a:pPr>
              <a:defRPr sz="1000">
                <a:solidFill>
                  <a:srgbClr val="CBD5E1"/>
                </a:solidFill>
              </a:defRPr>
            </a:pPr>
            <a:r>
              <a:t>• Cálculo del Parámetro k:</a:t>
            </a:r>
            <a:br/>
            <a:r>
              <a:t>k = I_D(on) / (V_GS(on) - V_GS(th))²</a:t>
            </a:r>
            <a:br/>
            <a:r>
              <a:t>LaTeX: \[ k = \frac{I_{D(on)}}{(V_{GS(on)} - V_{GS(th)})^2} \]</a:t>
            </a:r>
          </a:p>
          <a:p>
            <a:pPr>
              <a:defRPr sz="1000">
                <a:solidFill>
                  <a:srgbClr val="CBD5E1"/>
                </a:solidFill>
              </a:defRPr>
            </a:pPr>
            <a:r>
              <a:t>• Límite de Estrangulamiento:</a:t>
            </a:r>
            <a:br/>
            <a:r>
              <a:t>V_DS(sat) = V_GS - V_GS(th)</a:t>
            </a:r>
            <a:br/>
            <a:r>
              <a:t>Marca la parábola divisoria entre Óhmica y Saturación.</a:t>
            </a:r>
          </a:p>
          <a:p>
            <a:pPr>
              <a:defRPr sz="1000">
                <a:solidFill>
                  <a:srgbClr val="CBD5E1"/>
                </a:solidFill>
              </a:defRPr>
            </a:pPr>
            <a:r>
              <a:t>• Física Interna (Malvino):</a:t>
            </a:r>
            <a:br/>
            <a:r>
              <a:t>k = ½ · µ_n · C_ox · (W / L)</a:t>
            </a:r>
            <a:br/>
            <a:r>
              <a:t>Donde W/L es la relación de aspecto geométrica del canal.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B3D"/>
          </a:solidFill>
          <a:ln>
            <a:solidFill>
              <a:srgbClr val="0B1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515600" cy="320040"/>
          </a:xfrm>
          <a:prstGeom prst="rect">
            <a:avLst/>
          </a:prstGeom>
          <a:noFill/>
        </p:spPr>
        <p:txBody>
          <a:bodyPr wrap="square">
            <a:spAutoFit/>
          </a:bodyPr>
          <a:lstStyle/>
          <a:p>
            <a:pPr>
              <a:defRPr sz="1100" b="1">
                <a:solidFill>
                  <a:srgbClr val="FFB800"/>
                </a:solidFill>
                <a:latin typeface="Arial"/>
              </a:defRPr>
            </a:pPr>
            <a:r>
              <a:t>ESTÁNDARES DE ESQUEMÁTICA</a:t>
            </a:r>
          </a:p>
        </p:txBody>
      </p:sp>
      <p:sp>
        <p:nvSpPr>
          <p:cNvPr id="4" name="TextBox 3"/>
          <p:cNvSpPr txBox="1"/>
          <p:nvPr/>
        </p:nvSpPr>
        <p:spPr>
          <a:xfrm>
            <a:off x="731520" y="594360"/>
            <a:ext cx="10515600" cy="685800"/>
          </a:xfrm>
          <a:prstGeom prst="rect">
            <a:avLst/>
          </a:prstGeom>
          <a:noFill/>
        </p:spPr>
        <p:txBody>
          <a:bodyPr wrap="square">
            <a:spAutoFit/>
          </a:bodyPr>
          <a:lstStyle/>
          <a:p>
            <a:pPr>
              <a:defRPr sz="2200" b="1">
                <a:solidFill>
                  <a:srgbClr val="FFFFFF"/>
                </a:solidFill>
                <a:latin typeface="Arial"/>
              </a:defRPr>
            </a:pPr>
            <a:r>
              <a:t>8. Simbología Normalizada IEEE / IEC y Diodo de Cuerpo</a:t>
            </a:r>
          </a:p>
        </p:txBody>
      </p:sp>
      <p:sp>
        <p:nvSpPr>
          <p:cNvPr id="5" name="Rectangle 4"/>
          <p:cNvSpPr/>
          <p:nvPr/>
        </p:nvSpPr>
        <p:spPr>
          <a:xfrm>
            <a:off x="0" y="6565392"/>
            <a:ext cx="7772400" cy="54864"/>
          </a:xfrm>
          <a:prstGeom prst="rect">
            <a:avLst/>
          </a:prstGeom>
          <a:solidFill>
            <a:srgbClr val="00C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0" y="6565392"/>
            <a:ext cx="4419295" cy="54864"/>
          </a:xfrm>
          <a:prstGeom prst="rect">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601968"/>
            <a:ext cx="10698480" cy="228600"/>
          </a:xfrm>
          <a:prstGeom prst="rect">
            <a:avLst/>
          </a:prstGeom>
          <a:noFill/>
        </p:spPr>
        <p:txBody>
          <a:bodyPr wrap="none">
            <a:spAutoFit/>
          </a:bodyPr>
          <a:lstStyle/>
          <a:p>
            <a:pPr>
              <a:defRPr sz="900">
                <a:solidFill>
                  <a:srgbClr val="94A3B8"/>
                </a:solidFill>
                <a:latin typeface="Arial"/>
              </a:defRPr>
            </a:pPr>
            <a:r>
              <a:t>Institución Universitaria ITM  |  Electrónica Analógica y Laboratorio  |  Docente: Fredy Andrés Torres Muñoz  |  www.itm.edu.co</a:t>
            </a:r>
          </a:p>
        </p:txBody>
      </p:sp>
      <p:pic>
        <p:nvPicPr>
          <p:cNvPr id="8" name="Picture 7" descr="diagrama_simbologia_fet.png"/>
          <p:cNvPicPr>
            <a:picLocks noChangeAspect="1"/>
          </p:cNvPicPr>
          <p:nvPr/>
        </p:nvPicPr>
        <p:blipFill>
          <a:blip r:embed="rId2"/>
          <a:stretch>
            <a:fillRect/>
          </a:stretch>
        </p:blipFill>
        <p:spPr>
          <a:xfrm>
            <a:off x="731520" y="1371600"/>
            <a:ext cx="6675120" cy="3204058"/>
          </a:xfrm>
          <a:prstGeom prst="rect">
            <a:avLst/>
          </a:prstGeom>
        </p:spPr>
      </p:pic>
      <p:sp>
        <p:nvSpPr>
          <p:cNvPr id="9" name="Rounded Rectangle 8"/>
          <p:cNvSpPr/>
          <p:nvPr/>
        </p:nvSpPr>
        <p:spPr>
          <a:xfrm>
            <a:off x="7589520" y="1371600"/>
            <a:ext cx="3840480" cy="4937760"/>
          </a:xfrm>
          <a:prstGeom prst="roundRect">
            <a:avLst/>
          </a:prstGeom>
          <a:solidFill>
            <a:srgbClr val="12264D"/>
          </a:solidFill>
          <a:ln w="19050">
            <a:solidFill>
              <a:srgbClr val="00C0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0" y="1554480"/>
            <a:ext cx="3474720" cy="4572000"/>
          </a:xfrm>
          <a:prstGeom prst="rect">
            <a:avLst/>
          </a:prstGeom>
          <a:noFill/>
        </p:spPr>
        <p:txBody>
          <a:bodyPr wrap="square">
            <a:spAutoFit/>
          </a:bodyPr>
          <a:lstStyle/>
          <a:p>
            <a:pPr>
              <a:defRPr b="1" sz="1400">
                <a:solidFill>
                  <a:srgbClr val="FFB800"/>
                </a:solidFill>
              </a:defRPr>
            </a:pPr>
            <a:r>
              <a:t>CÓDIGO VISUAL DEL SÍMBOLO</a:t>
            </a:r>
          </a:p>
          <a:p>
            <a:pPr>
              <a:defRPr sz="1050">
                <a:solidFill>
                  <a:srgbClr val="CBD5E1"/>
                </a:solidFill>
              </a:defRPr>
            </a:pPr>
            <a:r>
              <a:t>• Línea discontinua (3 trazos): Indica canal normalmente abierto (E-MOSFET). Solo hay conducción si aplicamos voltaje umbral.</a:t>
            </a:r>
          </a:p>
          <a:p>
            <a:pPr>
              <a:defRPr sz="1050">
                <a:solidFill>
                  <a:srgbClr val="CBD5E1"/>
                </a:solidFill>
              </a:defRPr>
            </a:pPr>
            <a:r>
              <a:t>• Línea continua: Indica canal físico preexistente (JFET y D-MOSFET).</a:t>
            </a:r>
          </a:p>
          <a:p>
            <a:pPr>
              <a:defRPr sz="1050">
                <a:solidFill>
                  <a:srgbClr val="CBD5E1"/>
                </a:solidFill>
              </a:defRPr>
            </a:pPr>
            <a:r>
              <a:t>• Dirección de la flecha: Canal N: apunta hacia el canal (P-&gt;N).</a:t>
            </a:r>
            <a:br/>
            <a:r>
              <a:t>Canal P: apunta hacia afuera (N-&gt;P).</a:t>
            </a:r>
          </a:p>
          <a:p>
            <a:pPr>
              <a:defRPr sz="1050">
                <a:solidFill>
                  <a:srgbClr val="CBD5E1"/>
                </a:solidFill>
              </a:defRPr>
            </a:pPr>
            <a:r>
              <a:t>• El Diodo de Cuerpo (Body Diode): En los MOSFETs discretos de 3 terminales, el sustrato está conectado internamente a la fuente, formando un diodo intrínseco en antiparalelo entre S y D. ¡Conduce en inversa!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B3D"/>
          </a:solidFill>
          <a:ln>
            <a:solidFill>
              <a:srgbClr val="0B1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515600" cy="320040"/>
          </a:xfrm>
          <a:prstGeom prst="rect">
            <a:avLst/>
          </a:prstGeom>
          <a:noFill/>
        </p:spPr>
        <p:txBody>
          <a:bodyPr wrap="square">
            <a:spAutoFit/>
          </a:bodyPr>
          <a:lstStyle/>
          <a:p>
            <a:pPr>
              <a:defRPr sz="1100" b="1">
                <a:solidFill>
                  <a:srgbClr val="FFB800"/>
                </a:solidFill>
                <a:latin typeface="Arial"/>
              </a:defRPr>
            </a:pPr>
            <a:r>
              <a:t>CIRCUITOS DE POLARIZACIÓN</a:t>
            </a:r>
          </a:p>
        </p:txBody>
      </p:sp>
      <p:sp>
        <p:nvSpPr>
          <p:cNvPr id="4" name="TextBox 3"/>
          <p:cNvSpPr txBox="1"/>
          <p:nvPr/>
        </p:nvSpPr>
        <p:spPr>
          <a:xfrm>
            <a:off x="731520" y="594360"/>
            <a:ext cx="10515600" cy="685800"/>
          </a:xfrm>
          <a:prstGeom prst="rect">
            <a:avLst/>
          </a:prstGeom>
          <a:noFill/>
        </p:spPr>
        <p:txBody>
          <a:bodyPr wrap="square">
            <a:spAutoFit/>
          </a:bodyPr>
          <a:lstStyle/>
          <a:p>
            <a:pPr>
              <a:defRPr sz="2200" b="1">
                <a:solidFill>
                  <a:srgbClr val="FFFFFF"/>
                </a:solidFill>
                <a:latin typeface="Arial"/>
              </a:defRPr>
            </a:pPr>
            <a:r>
              <a:t>9. Análisis en DC: Polarización por Divisor de Voltaje</a:t>
            </a:r>
          </a:p>
        </p:txBody>
      </p:sp>
      <p:sp>
        <p:nvSpPr>
          <p:cNvPr id="5" name="Rectangle 4"/>
          <p:cNvSpPr/>
          <p:nvPr/>
        </p:nvSpPr>
        <p:spPr>
          <a:xfrm>
            <a:off x="0" y="6565392"/>
            <a:ext cx="7772400" cy="54864"/>
          </a:xfrm>
          <a:prstGeom prst="rect">
            <a:avLst/>
          </a:prstGeom>
          <a:solidFill>
            <a:srgbClr val="00C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0" y="6565392"/>
            <a:ext cx="4419295" cy="54864"/>
          </a:xfrm>
          <a:prstGeom prst="rect">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601968"/>
            <a:ext cx="10698480" cy="228600"/>
          </a:xfrm>
          <a:prstGeom prst="rect">
            <a:avLst/>
          </a:prstGeom>
          <a:noFill/>
        </p:spPr>
        <p:txBody>
          <a:bodyPr wrap="none">
            <a:spAutoFit/>
          </a:bodyPr>
          <a:lstStyle/>
          <a:p>
            <a:pPr>
              <a:defRPr sz="900">
                <a:solidFill>
                  <a:srgbClr val="94A3B8"/>
                </a:solidFill>
                <a:latin typeface="Arial"/>
              </a:defRPr>
            </a:pPr>
            <a:r>
              <a:t>Institución Universitaria ITM  |  Electrónica Analógica y Laboratorio  |  Docente: Fredy Andrés Torres Muñoz  |  www.itm.edu.co</a:t>
            </a:r>
          </a:p>
        </p:txBody>
      </p:sp>
      <p:sp>
        <p:nvSpPr>
          <p:cNvPr id="8" name="Rounded Rectangle 7"/>
          <p:cNvSpPr/>
          <p:nvPr/>
        </p:nvSpPr>
        <p:spPr>
          <a:xfrm>
            <a:off x="731520" y="1463040"/>
            <a:ext cx="5120640" cy="4846320"/>
          </a:xfrm>
          <a:prstGeom prst="roundRect">
            <a:avLst/>
          </a:prstGeom>
          <a:solidFill>
            <a:srgbClr val="12264D"/>
          </a:solidFill>
          <a:ln w="19050">
            <a:solidFill>
              <a:srgbClr val="00C0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45920"/>
            <a:ext cx="4754880" cy="4389120"/>
          </a:xfrm>
          <a:prstGeom prst="rect">
            <a:avLst/>
          </a:prstGeom>
          <a:noFill/>
        </p:spPr>
        <p:txBody>
          <a:bodyPr wrap="square">
            <a:spAutoFit/>
          </a:bodyPr>
          <a:lstStyle/>
          <a:p>
            <a:pPr>
              <a:defRPr b="1" sz="1500">
                <a:solidFill>
                  <a:srgbClr val="FFB800"/>
                </a:solidFill>
              </a:defRPr>
            </a:pPr>
            <a:r>
              <a:t>LA GRAN VENTAJA FRENTE AL BJT</a:t>
            </a:r>
          </a:p>
          <a:p>
            <a:pPr>
              <a:defRPr sz="1150">
                <a:solidFill>
                  <a:srgbClr val="CBD5E1"/>
                </a:solidFill>
              </a:defRPr>
            </a:pPr>
            <a:r>
              <a:t>• En el BJT, la corriente de base I_B cargaba el divisor resistivo, obligándonos a comprobar si β·R_E ≥ 10·R_2 para poder usar la aproximación del divisor ideal.</a:t>
            </a:r>
            <a:br/>
            <a:r>
              <a:t>• ¡En el MOSFET no hay corriente de entrada en DC! Dado que I_G = 0 A, el divisor de voltaje formado por R_1 y R_2 es EXACTO e inmune a las variaciones del transistor.</a:t>
            </a:r>
          </a:p>
          <a:p>
            <a:pPr>
              <a:defRPr sz="1100">
                <a:solidFill>
                  <a:srgbClr val="FFFFFF"/>
                </a:solidFill>
              </a:defRPr>
            </a:pPr>
            <a:r>
              <a:t>• Podemos usar resistencias gigantescas en el orden de los Megao疗mios (MΩ) como 10 MΩ o 22 MΩ para polarizar la compuerta, garantizando un consumo de potencia estática prácticamente nulo.</a:t>
            </a:r>
          </a:p>
        </p:txBody>
      </p:sp>
      <p:sp>
        <p:nvSpPr>
          <p:cNvPr id="10" name="Rounded Rectangle 9"/>
          <p:cNvSpPr/>
          <p:nvPr/>
        </p:nvSpPr>
        <p:spPr>
          <a:xfrm>
            <a:off x="6217920" y="1463040"/>
            <a:ext cx="5212080" cy="4846320"/>
          </a:xfrm>
          <a:prstGeom prst="roundRect">
            <a:avLst/>
          </a:prstGeom>
          <a:solidFill>
            <a:srgbClr val="12264D"/>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45920"/>
            <a:ext cx="4846320" cy="4389120"/>
          </a:xfrm>
          <a:prstGeom prst="rect">
            <a:avLst/>
          </a:prstGeom>
          <a:noFill/>
        </p:spPr>
        <p:txBody>
          <a:bodyPr wrap="square">
            <a:spAutoFit/>
          </a:bodyPr>
          <a:lstStyle/>
          <a:p>
            <a:pPr>
              <a:defRPr b="1" sz="1500">
                <a:solidFill>
                  <a:srgbClr val="34D399"/>
                </a:solidFill>
              </a:defRPr>
            </a:pPr>
            <a:r>
              <a:t>ALGORITMO DE RESOLUCIÓN PASO A PASO</a:t>
            </a:r>
          </a:p>
          <a:p>
            <a:pPr>
              <a:defRPr sz="1000">
                <a:solidFill>
                  <a:srgbClr val="CBD5E1"/>
                </a:solidFill>
              </a:defRPr>
            </a:pPr>
            <a:r>
              <a:t>• Paso 1: Voltaje de Compuerta (V_G)</a:t>
            </a:r>
            <a:br/>
            <a:r>
              <a:t>V_G = V_DD · [ R_2 / (R_1 + R_2) ]</a:t>
            </a:r>
            <a:br/>
            <a:r>
              <a:t>LaTeX: \[ V_G = V_{DD} \left( \frac{R_2}{R_1 + R_2} \right) \]</a:t>
            </a:r>
          </a:p>
          <a:p>
            <a:pPr>
              <a:defRPr sz="1000">
                <a:solidFill>
                  <a:srgbClr val="CBD5E1"/>
                </a:solidFill>
              </a:defRPr>
            </a:pPr>
            <a:r>
              <a:t>• Paso 2: Malla Compuerta-Fuente (V_GS)</a:t>
            </a:r>
            <a:br/>
            <a:r>
              <a:t>V_GS = V_G - I_D · R_S</a:t>
            </a:r>
            <a:br/>
            <a:r>
              <a:t>LaTeX: \[ V_{GS} = V_G - I_D R_S \]</a:t>
            </a:r>
          </a:p>
          <a:p>
            <a:pPr>
              <a:defRPr sz="1000">
                <a:solidFill>
                  <a:srgbClr val="CBD5E1"/>
                </a:solidFill>
              </a:defRPr>
            </a:pPr>
            <a:r>
              <a:t>• Paso 3: Sustituir en Ecuación del MOSFET</a:t>
            </a:r>
            <a:br/>
            <a:r>
              <a:t>I_D = k · (V_GS - V_GS(th))²</a:t>
            </a:r>
            <a:br/>
            <a:r>
              <a:t>I_D = k · [(V_G - I_D·R_S) - V_GS(th)]²</a:t>
            </a:r>
            <a:br/>
            <a:r>
              <a:t>Genera una ecuación de segundo grado: A·I_D² + B·I_D + C = 0</a:t>
            </a:r>
          </a:p>
          <a:p>
            <a:pPr>
              <a:defRPr sz="1000">
                <a:solidFill>
                  <a:srgbClr val="CBD5E1"/>
                </a:solidFill>
              </a:defRPr>
            </a:pPr>
            <a:r>
              <a:t>• Paso 4: Verificación de Región de Saturación</a:t>
            </a:r>
            <a:br/>
            <a:r>
              <a:t>V_DS = V_DD - I_D·(R_D + R_S)</a:t>
            </a:r>
            <a:br/>
            <a:r>
              <a:t>Comprobar: V_DS ≥ V_GS - V_GS(th)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B3D"/>
          </a:solidFill>
          <a:ln>
            <a:solidFill>
              <a:srgbClr val="0B1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515600" cy="320040"/>
          </a:xfrm>
          <a:prstGeom prst="rect">
            <a:avLst/>
          </a:prstGeom>
          <a:noFill/>
        </p:spPr>
        <p:txBody>
          <a:bodyPr wrap="square">
            <a:spAutoFit/>
          </a:bodyPr>
          <a:lstStyle/>
          <a:p>
            <a:pPr>
              <a:defRPr sz="1100" b="1">
                <a:solidFill>
                  <a:srgbClr val="FFB800"/>
                </a:solidFill>
                <a:latin typeface="Arial"/>
              </a:defRPr>
            </a:pPr>
            <a:r>
              <a:t>ANÁLISIS MATEMÁTICO RIGUROSO</a:t>
            </a:r>
          </a:p>
        </p:txBody>
      </p:sp>
      <p:sp>
        <p:nvSpPr>
          <p:cNvPr id="4" name="TextBox 3"/>
          <p:cNvSpPr txBox="1"/>
          <p:nvPr/>
        </p:nvSpPr>
        <p:spPr>
          <a:xfrm>
            <a:off x="731520" y="594360"/>
            <a:ext cx="10515600" cy="685800"/>
          </a:xfrm>
          <a:prstGeom prst="rect">
            <a:avLst/>
          </a:prstGeom>
          <a:noFill/>
        </p:spPr>
        <p:txBody>
          <a:bodyPr wrap="square">
            <a:spAutoFit/>
          </a:bodyPr>
          <a:lstStyle/>
          <a:p>
            <a:pPr>
              <a:defRPr sz="2200" b="1">
                <a:solidFill>
                  <a:srgbClr val="FFFFFF"/>
                </a:solidFill>
                <a:latin typeface="Arial"/>
              </a:defRPr>
            </a:pPr>
            <a:r>
              <a:t>10. Ejercicio Resuelto Paso a Paso (Tipo Parcial ITM) - Parte 1</a:t>
            </a:r>
          </a:p>
        </p:txBody>
      </p:sp>
      <p:sp>
        <p:nvSpPr>
          <p:cNvPr id="5" name="Rectangle 4"/>
          <p:cNvSpPr/>
          <p:nvPr/>
        </p:nvSpPr>
        <p:spPr>
          <a:xfrm>
            <a:off x="0" y="6565392"/>
            <a:ext cx="7772400" cy="54864"/>
          </a:xfrm>
          <a:prstGeom prst="rect">
            <a:avLst/>
          </a:prstGeom>
          <a:solidFill>
            <a:srgbClr val="00C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0" y="6565392"/>
            <a:ext cx="4419295" cy="54864"/>
          </a:xfrm>
          <a:prstGeom prst="rect">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601968"/>
            <a:ext cx="10698480" cy="228600"/>
          </a:xfrm>
          <a:prstGeom prst="rect">
            <a:avLst/>
          </a:prstGeom>
          <a:noFill/>
        </p:spPr>
        <p:txBody>
          <a:bodyPr wrap="none">
            <a:spAutoFit/>
          </a:bodyPr>
          <a:lstStyle/>
          <a:p>
            <a:pPr>
              <a:defRPr sz="900">
                <a:solidFill>
                  <a:srgbClr val="94A3B8"/>
                </a:solidFill>
                <a:latin typeface="Arial"/>
              </a:defRPr>
            </a:pPr>
            <a:r>
              <a:t>Institución Universitaria ITM  |  Electrónica Analógica y Laboratorio  |  Docente: Fredy Andrés Torres Muñoz  |  www.itm.edu.co</a:t>
            </a:r>
          </a:p>
        </p:txBody>
      </p:sp>
      <p:pic>
        <p:nvPicPr>
          <p:cNvPr id="8" name="Picture 7" descr="diagrama_divisor_tension.png"/>
          <p:cNvPicPr>
            <a:picLocks noChangeAspect="1"/>
          </p:cNvPicPr>
          <p:nvPr/>
        </p:nvPicPr>
        <p:blipFill>
          <a:blip r:embed="rId2"/>
          <a:stretch>
            <a:fillRect/>
          </a:stretch>
        </p:blipFill>
        <p:spPr>
          <a:xfrm>
            <a:off x="731520" y="1371600"/>
            <a:ext cx="6217920" cy="3730752"/>
          </a:xfrm>
          <a:prstGeom prst="rect">
            <a:avLst/>
          </a:prstGeom>
        </p:spPr>
      </p:pic>
      <p:sp>
        <p:nvSpPr>
          <p:cNvPr id="9" name="Rounded Rectangle 8"/>
          <p:cNvSpPr/>
          <p:nvPr/>
        </p:nvSpPr>
        <p:spPr>
          <a:xfrm>
            <a:off x="7132320" y="1371600"/>
            <a:ext cx="4297680" cy="4937760"/>
          </a:xfrm>
          <a:prstGeom prst="roundRect">
            <a:avLst/>
          </a:prstGeom>
          <a:solidFill>
            <a:srgbClr val="12264D"/>
          </a:solidFill>
          <a:ln w="19050">
            <a:solidFill>
              <a:srgbClr val="FFB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0" y="1554480"/>
            <a:ext cx="3931920" cy="4572000"/>
          </a:xfrm>
          <a:prstGeom prst="rect">
            <a:avLst/>
          </a:prstGeom>
          <a:noFill/>
        </p:spPr>
        <p:txBody>
          <a:bodyPr wrap="square">
            <a:spAutoFit/>
          </a:bodyPr>
          <a:lstStyle/>
          <a:p>
            <a:pPr>
              <a:defRPr b="1" sz="1300">
                <a:solidFill>
                  <a:srgbClr val="FFB800"/>
                </a:solidFill>
              </a:defRPr>
            </a:pPr>
            <a:r>
              <a:t>PLANTEAMIENTO Y DATOS COMERCIALES</a:t>
            </a:r>
          </a:p>
          <a:p>
            <a:pPr>
              <a:defRPr sz="1000">
                <a:solidFill>
                  <a:srgbClr val="CBD5E1"/>
                </a:solidFill>
              </a:defRPr>
            </a:pPr>
            <a:r>
              <a:t>• Datos del circuito: V_DD = 24 V, R_1 = 22 MΩ, R_2 = 10 MΩ, R_D = 1.8 kΩ, R_S = 820 Ω.</a:t>
            </a:r>
          </a:p>
          <a:p>
            <a:pPr>
              <a:defRPr sz="1000">
                <a:solidFill>
                  <a:srgbClr val="CBD5E1"/>
                </a:solidFill>
              </a:defRPr>
            </a:pPr>
            <a:r>
              <a:t>• Datos de hoja de datos (Datasheet): V_GS(th) = 2.5 V | I_D(on) = 5 mA para V_GS(on) = 5.0 V.</a:t>
            </a:r>
          </a:p>
          <a:p>
            <a:pPr>
              <a:defRPr sz="1000">
                <a:solidFill>
                  <a:srgbClr val="CBD5E1"/>
                </a:solidFill>
              </a:defRPr>
            </a:pPr>
            <a:r>
              <a:t>• Paso 1: Cálculo del parámetro k </a:t>
            </a:r>
            <a:br/>
            <a:r>
              <a:t>k = I_D(on) / (V_GS(on) - V_GS(th))²</a:t>
            </a:r>
            <a:br/>
            <a:r>
              <a:t>k = 5 mA / (5.0 V - 2.5 V)²</a:t>
            </a:r>
            <a:br/>
            <a:r>
              <a:t>k = 5 mA / 6.25 V² = 0.80 mA/V²</a:t>
            </a:r>
            <a:br/>
            <a:r>
              <a:t>LaTeX: \[ k = 0.80\,\text{mA/V}^2 \]</a:t>
            </a:r>
          </a:p>
          <a:p>
            <a:pPr>
              <a:defRPr sz="1000">
                <a:solidFill>
                  <a:srgbClr val="CBD5E1"/>
                </a:solidFill>
              </a:defRPr>
            </a:pPr>
            <a:r>
              <a:t>• Paso 2: Voltaje de Compuerta V_G </a:t>
            </a:r>
            <a:br/>
            <a:r>
              <a:t>V_G = 24 V · [ 10 MΩ / (22 MΩ + 10 MΩ) ]</a:t>
            </a:r>
            <a:br/>
            <a:r>
              <a:t>V_G = 24 V · (10 / 32) = 7.50 V</a:t>
            </a:r>
            <a:br/>
            <a:r>
              <a:t>LaTeX: \[ V_G = 7.50\,\text{V} \]</a:t>
            </a:r>
          </a:p>
          <a:p>
            <a:pPr>
              <a:defRPr sz="1000">
                <a:solidFill>
                  <a:srgbClr val="CBD5E1"/>
                </a:solidFill>
              </a:defRPr>
            </a:pPr>
            <a:r>
              <a:t>• Paso 3: Malla Compuerta-Fuente </a:t>
            </a:r>
            <a:br/>
            <a:r>
              <a:t>V_GS = 7.50 V - I_D · (0.82 kΩ)</a:t>
            </a:r>
            <a:br/>
            <a:r>
              <a:t>(con I_D expresada en mA)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B3D"/>
          </a:solidFill>
          <a:ln>
            <a:solidFill>
              <a:srgbClr val="0B1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515600" cy="320040"/>
          </a:xfrm>
          <a:prstGeom prst="rect">
            <a:avLst/>
          </a:prstGeom>
          <a:noFill/>
        </p:spPr>
        <p:txBody>
          <a:bodyPr wrap="square">
            <a:spAutoFit/>
          </a:bodyPr>
          <a:lstStyle/>
          <a:p>
            <a:pPr>
              <a:defRPr sz="1100" b="1">
                <a:solidFill>
                  <a:srgbClr val="FFB800"/>
                </a:solidFill>
                <a:latin typeface="Arial"/>
              </a:defRPr>
            </a:pPr>
            <a:r>
              <a:t>RESOLUCIÓN Y CRITERIO FÍSICO</a:t>
            </a:r>
          </a:p>
        </p:txBody>
      </p:sp>
      <p:sp>
        <p:nvSpPr>
          <p:cNvPr id="4" name="TextBox 3"/>
          <p:cNvSpPr txBox="1"/>
          <p:nvPr/>
        </p:nvSpPr>
        <p:spPr>
          <a:xfrm>
            <a:off x="731520" y="594360"/>
            <a:ext cx="10515600" cy="685800"/>
          </a:xfrm>
          <a:prstGeom prst="rect">
            <a:avLst/>
          </a:prstGeom>
          <a:noFill/>
        </p:spPr>
        <p:txBody>
          <a:bodyPr wrap="square">
            <a:spAutoFit/>
          </a:bodyPr>
          <a:lstStyle/>
          <a:p>
            <a:pPr>
              <a:defRPr sz="2200" b="1">
                <a:solidFill>
                  <a:srgbClr val="FFFFFF"/>
                </a:solidFill>
                <a:latin typeface="Arial"/>
              </a:defRPr>
            </a:pPr>
            <a:r>
              <a:t>11. Ejercicio Resuelto (Parte 2): Raíz Cuadrática y Verificación</a:t>
            </a:r>
          </a:p>
        </p:txBody>
      </p:sp>
      <p:sp>
        <p:nvSpPr>
          <p:cNvPr id="5" name="Rectangle 4"/>
          <p:cNvSpPr/>
          <p:nvPr/>
        </p:nvSpPr>
        <p:spPr>
          <a:xfrm>
            <a:off x="0" y="6565392"/>
            <a:ext cx="7772400" cy="54864"/>
          </a:xfrm>
          <a:prstGeom prst="rect">
            <a:avLst/>
          </a:prstGeom>
          <a:solidFill>
            <a:srgbClr val="00C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0" y="6565392"/>
            <a:ext cx="4419295" cy="54864"/>
          </a:xfrm>
          <a:prstGeom prst="rect">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601968"/>
            <a:ext cx="10698480" cy="228600"/>
          </a:xfrm>
          <a:prstGeom prst="rect">
            <a:avLst/>
          </a:prstGeom>
          <a:noFill/>
        </p:spPr>
        <p:txBody>
          <a:bodyPr wrap="none">
            <a:spAutoFit/>
          </a:bodyPr>
          <a:lstStyle/>
          <a:p>
            <a:pPr>
              <a:defRPr sz="900">
                <a:solidFill>
                  <a:srgbClr val="94A3B8"/>
                </a:solidFill>
                <a:latin typeface="Arial"/>
              </a:defRPr>
            </a:pPr>
            <a:r>
              <a:t>Institución Universitaria ITM  |  Electrónica Analógica y Laboratorio  |  Docente: Fredy Andrés Torres Muñoz  |  www.itm.edu.co</a:t>
            </a:r>
          </a:p>
        </p:txBody>
      </p:sp>
      <p:sp>
        <p:nvSpPr>
          <p:cNvPr id="8" name="Rounded Rectangle 7"/>
          <p:cNvSpPr/>
          <p:nvPr/>
        </p:nvSpPr>
        <p:spPr>
          <a:xfrm>
            <a:off x="731520" y="1371600"/>
            <a:ext cx="5120640" cy="4937760"/>
          </a:xfrm>
          <a:prstGeom prst="roundRect">
            <a:avLst/>
          </a:prstGeom>
          <a:solidFill>
            <a:srgbClr val="12264D"/>
          </a:solidFill>
          <a:ln w="19050">
            <a:solidFill>
              <a:srgbClr val="00C0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54480"/>
            <a:ext cx="4754880" cy="4572000"/>
          </a:xfrm>
          <a:prstGeom prst="rect">
            <a:avLst/>
          </a:prstGeom>
          <a:noFill/>
        </p:spPr>
        <p:txBody>
          <a:bodyPr wrap="square">
            <a:spAutoFit/>
          </a:bodyPr>
          <a:lstStyle/>
          <a:p>
            <a:pPr>
              <a:defRPr b="1" sz="1400">
                <a:solidFill>
                  <a:srgbClr val="00C0F3"/>
                </a:solidFill>
              </a:defRPr>
            </a:pPr>
            <a:r>
              <a:t>PASO 4: ECUACIÓN CUADRÁTICA EN I_D</a:t>
            </a:r>
          </a:p>
          <a:p>
            <a:pPr>
              <a:defRPr sz="950">
                <a:solidFill>
                  <a:srgbClr val="CBD5E1"/>
                </a:solidFill>
              </a:defRPr>
            </a:pPr>
            <a:r>
              <a:t>• Sustitución en la ecuación cuadrática:</a:t>
            </a:r>
            <a:br/>
            <a:r>
              <a:t>I_D = 0.80 · [(7.50 - 0.82·I_D) - 2.5]²</a:t>
            </a:r>
            <a:br/>
            <a:r>
              <a:t>I_D = 0.80 · [5.0 - 0.82·I_D]²</a:t>
            </a:r>
            <a:br/>
            <a:r>
              <a:t>I_D = 0.80 · (25.0 - 8.2·I_D + 0.6724·I_D²)</a:t>
            </a:r>
            <a:br/>
            <a:r>
              <a:t>I_D = 20.0 - 6.56·I_D + 0.538·I_D²</a:t>
            </a:r>
          </a:p>
          <a:p>
            <a:pPr>
              <a:defRPr sz="950">
                <a:solidFill>
                  <a:srgbClr val="CBD5E1"/>
                </a:solidFill>
              </a:defRPr>
            </a:pPr>
            <a:r>
              <a:t>• Forma canónica (A·x² + B·x + C = 0):</a:t>
            </a:r>
            <a:br/>
            <a:r>
              <a:t>0.538·I_D² - 7.56·I_D + 20.0 = 0</a:t>
            </a:r>
            <a:br/>
            <a:r>
              <a:t>LaTeX: \[ 0.538 I_D^2 - 7.56 I_D + 20 = 0 \]</a:t>
            </a:r>
          </a:p>
          <a:p>
            <a:pPr>
              <a:defRPr sz="950">
                <a:solidFill>
                  <a:srgbClr val="CBD5E1"/>
                </a:solidFill>
              </a:defRPr>
            </a:pPr>
            <a:r>
              <a:t>• Aplicación de la fórmula cuadrática general:</a:t>
            </a:r>
            <a:br/>
            <a:r>
              <a:t>I_D = [ 7.56 ± √(7.56² - 4(0.538)(20)) ] / [2(0.538)]</a:t>
            </a:r>
            <a:br/>
            <a:r>
              <a:t>I_D = [ 7.56 ± √(57.15 - 43.04) ] / 1.076</a:t>
            </a:r>
            <a:br/>
            <a:r>
              <a:t>I_D = [ 7.56 ± √14.11 ] / 1.076 = [ 7.56 ± 3.756 ] / 1.076</a:t>
            </a:r>
          </a:p>
          <a:p>
            <a:pPr>
              <a:defRPr sz="950">
                <a:solidFill>
                  <a:srgbClr val="CBD5E1"/>
                </a:solidFill>
              </a:defRPr>
            </a:pPr>
            <a:r>
              <a:t>• Dos raíces matemáticas obtenidas:</a:t>
            </a:r>
            <a:br/>
            <a:r>
              <a:t>I_D1 = 10.52 / 1.076 = 7.15 mA</a:t>
            </a:r>
            <a:br/>
            <a:r>
              <a:t>I_D2 = 4.10 / 1.076 = 3.22 mA</a:t>
            </a:r>
          </a:p>
        </p:txBody>
      </p:sp>
      <p:sp>
        <p:nvSpPr>
          <p:cNvPr id="10" name="Rounded Rectangle 9"/>
          <p:cNvSpPr/>
          <p:nvPr/>
        </p:nvSpPr>
        <p:spPr>
          <a:xfrm>
            <a:off x="6217920" y="1371600"/>
            <a:ext cx="5212080" cy="4937760"/>
          </a:xfrm>
          <a:prstGeom prst="roundRect">
            <a:avLst/>
          </a:prstGeom>
          <a:solidFill>
            <a:srgbClr val="12264D"/>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554480"/>
            <a:ext cx="4846320" cy="4572000"/>
          </a:xfrm>
          <a:prstGeom prst="rect">
            <a:avLst/>
          </a:prstGeom>
          <a:noFill/>
        </p:spPr>
        <p:txBody>
          <a:bodyPr wrap="square">
            <a:spAutoFit/>
          </a:bodyPr>
          <a:lstStyle/>
          <a:p>
            <a:pPr>
              <a:defRPr b="1" sz="1400">
                <a:solidFill>
                  <a:srgbClr val="34D399"/>
                </a:solidFill>
              </a:defRPr>
            </a:pPr>
            <a:r>
              <a:t>PASO 5 Y 6: DESCARTE Y COMPROBACIÓN</a:t>
            </a:r>
          </a:p>
          <a:p>
            <a:pPr>
              <a:defRPr sz="950">
                <a:solidFill>
                  <a:srgbClr val="CBD5E1"/>
                </a:solidFill>
              </a:defRPr>
            </a:pPr>
            <a:r>
              <a:t>• ¿Cuál raíz se descarta y por qué razón física?</a:t>
            </a:r>
            <a:br/>
            <a:r>
              <a:t>Si evaluamos I_D1 = 7.15 mA:</a:t>
            </a:r>
            <a:br/>
            <a:r>
              <a:t>V_GS = 7.50 - 7.15 · (0.82) = 1.64 V</a:t>
            </a:r>
            <a:br/>
            <a:r>
              <a:t>Pero V_GS(th) = 2.5 V. Como 1.64 V &lt; 2.5 V, el transistor estaría en CORTE (I_D = 0), contradiciendo el valor de 7.15 mA. ¡Se descarta!</a:t>
            </a:r>
          </a:p>
          <a:p>
            <a:pPr>
              <a:defRPr sz="950">
                <a:solidFill>
                  <a:srgbClr val="CBD5E1"/>
                </a:solidFill>
              </a:defRPr>
            </a:pPr>
            <a:r>
              <a:t>• Raíz física legítima aceptada:</a:t>
            </a:r>
            <a:br/>
            <a:r>
              <a:t>I_DQ = 3.22 mA</a:t>
            </a:r>
            <a:br/>
            <a:r>
              <a:t>V_GSQ = 7.50 - 3.22 · (0.82) = 4.86 V</a:t>
            </a:r>
            <a:br/>
            <a:r>
              <a:t>Como 4.86 V &gt; 2.5 V, ¡es físicamente consistente!</a:t>
            </a:r>
          </a:p>
          <a:p>
            <a:pPr>
              <a:defRPr sz="950">
                <a:solidFill>
                  <a:srgbClr val="CBD5E1"/>
                </a:solidFill>
              </a:defRPr>
            </a:pPr>
            <a:r>
              <a:t>• Cálculo del voltaje V_DSQ:</a:t>
            </a:r>
            <a:br/>
            <a:r>
              <a:t>V_DSQ = V_DD - I_DQ · (R_D + R_S)</a:t>
            </a:r>
            <a:br/>
            <a:r>
              <a:t>V_DSQ = 24 V - 3.22 mA · (1.8 kΩ + 0.82 kΩ)</a:t>
            </a:r>
            <a:br/>
            <a:r>
              <a:t>V_DSQ = 24 V - 3.22 · (2.62) = 24 - 8.44 = 15.56 V</a:t>
            </a:r>
          </a:p>
          <a:p>
            <a:pPr>
              <a:defRPr sz="950">
                <a:solidFill>
                  <a:srgbClr val="34D399"/>
                </a:solidFill>
              </a:defRPr>
            </a:pPr>
            <a:r>
              <a:t>• Comprobación final obligatoria de Saturación:</a:t>
            </a:r>
            <a:br/>
            <a:r>
              <a:t>V_DS(sat) = V_GSQ - V_GS(th) = 4.86 V - 2.5 V = 2.36 V</a:t>
            </a:r>
            <a:br/>
            <a:r>
              <a:t>Como V_DSQ (15.56 V) ≥ V_DS(sat) (2.36 V):</a:t>
            </a:r>
            <a:br/>
            <a:r>
              <a:t>¡EL TRANSISTOR OPERA EN SATURACIÓN AL 100%!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B3D"/>
          </a:solidFill>
          <a:ln>
            <a:solidFill>
              <a:srgbClr val="0B1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515600" cy="320040"/>
          </a:xfrm>
          <a:prstGeom prst="rect">
            <a:avLst/>
          </a:prstGeom>
          <a:noFill/>
        </p:spPr>
        <p:txBody>
          <a:bodyPr wrap="square">
            <a:spAutoFit/>
          </a:bodyPr>
          <a:lstStyle/>
          <a:p>
            <a:pPr>
              <a:defRPr sz="1100" b="1">
                <a:solidFill>
                  <a:srgbClr val="FFB800"/>
                </a:solidFill>
                <a:latin typeface="Arial"/>
              </a:defRPr>
            </a:pPr>
            <a:r>
              <a:t>ESTABILIZACIÓN POR RETROALIMENTACIÓN</a:t>
            </a:r>
          </a:p>
        </p:txBody>
      </p:sp>
      <p:sp>
        <p:nvSpPr>
          <p:cNvPr id="4" name="TextBox 3"/>
          <p:cNvSpPr txBox="1"/>
          <p:nvPr/>
        </p:nvSpPr>
        <p:spPr>
          <a:xfrm>
            <a:off x="731520" y="594360"/>
            <a:ext cx="10515600" cy="685800"/>
          </a:xfrm>
          <a:prstGeom prst="rect">
            <a:avLst/>
          </a:prstGeom>
          <a:noFill/>
        </p:spPr>
        <p:txBody>
          <a:bodyPr wrap="square">
            <a:spAutoFit/>
          </a:bodyPr>
          <a:lstStyle/>
          <a:p>
            <a:pPr>
              <a:defRPr sz="2200" b="1">
                <a:solidFill>
                  <a:srgbClr val="FFFFFF"/>
                </a:solidFill>
                <a:latin typeface="Arial"/>
              </a:defRPr>
            </a:pPr>
            <a:r>
              <a:t>12. Polarización por Realimentación de Drenador (Drain-Feedback)</a:t>
            </a:r>
          </a:p>
        </p:txBody>
      </p:sp>
      <p:sp>
        <p:nvSpPr>
          <p:cNvPr id="5" name="Rectangle 4"/>
          <p:cNvSpPr/>
          <p:nvPr/>
        </p:nvSpPr>
        <p:spPr>
          <a:xfrm>
            <a:off x="0" y="6565392"/>
            <a:ext cx="7772400" cy="54864"/>
          </a:xfrm>
          <a:prstGeom prst="rect">
            <a:avLst/>
          </a:prstGeom>
          <a:solidFill>
            <a:srgbClr val="00C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0" y="6565392"/>
            <a:ext cx="4419295" cy="54864"/>
          </a:xfrm>
          <a:prstGeom prst="rect">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601968"/>
            <a:ext cx="10698480" cy="228600"/>
          </a:xfrm>
          <a:prstGeom prst="rect">
            <a:avLst/>
          </a:prstGeom>
          <a:noFill/>
        </p:spPr>
        <p:txBody>
          <a:bodyPr wrap="none">
            <a:spAutoFit/>
          </a:bodyPr>
          <a:lstStyle/>
          <a:p>
            <a:pPr>
              <a:defRPr sz="900">
                <a:solidFill>
                  <a:srgbClr val="94A3B8"/>
                </a:solidFill>
                <a:latin typeface="Arial"/>
              </a:defRPr>
            </a:pPr>
            <a:r>
              <a:t>Institución Universitaria ITM  |  Electrónica Analógica y Laboratorio  |  Docente: Fredy Andrés Torres Muñoz  |  www.itm.edu.co</a:t>
            </a:r>
          </a:p>
        </p:txBody>
      </p:sp>
      <p:sp>
        <p:nvSpPr>
          <p:cNvPr id="8" name="Rounded Rectangle 7"/>
          <p:cNvSpPr/>
          <p:nvPr/>
        </p:nvSpPr>
        <p:spPr>
          <a:xfrm>
            <a:off x="731520" y="1463040"/>
            <a:ext cx="5120640" cy="4846320"/>
          </a:xfrm>
          <a:prstGeom prst="roundRect">
            <a:avLst/>
          </a:prstGeom>
          <a:solidFill>
            <a:srgbClr val="12264D"/>
          </a:solidFill>
          <a:ln w="19050">
            <a:solidFill>
              <a:srgbClr val="00C0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45920"/>
            <a:ext cx="4754880" cy="4389120"/>
          </a:xfrm>
          <a:prstGeom prst="rect">
            <a:avLst/>
          </a:prstGeom>
          <a:noFill/>
        </p:spPr>
        <p:txBody>
          <a:bodyPr wrap="square">
            <a:spAutoFit/>
          </a:bodyPr>
          <a:lstStyle/>
          <a:p>
            <a:pPr>
              <a:defRPr b="1" sz="1500">
                <a:solidFill>
                  <a:srgbClr val="FFB800"/>
                </a:solidFill>
              </a:defRPr>
            </a:pPr>
            <a:r>
              <a:t>CONFIGURACIÓN CIRCUITAL</a:t>
            </a:r>
          </a:p>
          <a:p>
            <a:pPr>
              <a:defRPr sz="1100">
                <a:solidFill>
                  <a:srgbClr val="CBD5E1"/>
                </a:solidFill>
              </a:defRPr>
            </a:pPr>
            <a:r>
              <a:t>• Conexión: Se conecta una resistencia muy alta R_G (ej. 10 MΩ) directamente entre el drenador y la compuerta.</a:t>
            </a:r>
          </a:p>
          <a:p>
            <a:pPr>
              <a:defRPr sz="1100">
                <a:solidFill>
                  <a:srgbClr val="CBD5E1"/>
                </a:solidFill>
              </a:defRPr>
            </a:pPr>
            <a:r>
              <a:t>• Caída en R_G: Dado que I_G = 0 A, la caída de tensión en R_G es exactamente cero: V_RG = I_G · R_G = 0 V.</a:t>
            </a:r>
          </a:p>
          <a:p>
            <a:pPr>
              <a:defRPr sz="1100">
                <a:solidFill>
                  <a:srgbClr val="CBD5E1"/>
                </a:solidFill>
              </a:defRPr>
            </a:pPr>
            <a:r>
              <a:t>• Consecuencia directa: El potencial de compuerta queda amarrado al potencial de drenador:</a:t>
            </a:r>
          </a:p>
          <a:p>
            <a:pPr>
              <a:defRPr sz="1100">
                <a:solidFill>
                  <a:srgbClr val="CBD5E1"/>
                </a:solidFill>
              </a:defRPr>
            </a:pPr>
            <a:r>
              <a:t>• Ecuación maestra: V_GS = V_DS</a:t>
            </a:r>
            <a:br/>
            <a:r>
              <a:t>LaTeX: \[ V_{GS} = V_{DS} \]</a:t>
            </a:r>
          </a:p>
          <a:p>
            <a:pPr>
              <a:defRPr sz="1100">
                <a:solidFill>
                  <a:srgbClr val="CBD5E1"/>
                </a:solidFill>
              </a:defRPr>
            </a:pPr>
            <a:r>
              <a:t>• Ahorro de componentes: Elimina la necesidad de R_1, R_2 y desacopla la fuente, estabilizando el punto Q ante temperatura.</a:t>
            </a:r>
          </a:p>
        </p:txBody>
      </p:sp>
      <p:sp>
        <p:nvSpPr>
          <p:cNvPr id="10" name="Rounded Rectangle 9"/>
          <p:cNvSpPr/>
          <p:nvPr/>
        </p:nvSpPr>
        <p:spPr>
          <a:xfrm>
            <a:off x="6217920" y="1463040"/>
            <a:ext cx="5212080" cy="4846320"/>
          </a:xfrm>
          <a:prstGeom prst="roundRect">
            <a:avLst/>
          </a:prstGeom>
          <a:solidFill>
            <a:srgbClr val="12264D"/>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45920"/>
            <a:ext cx="4846320" cy="4389120"/>
          </a:xfrm>
          <a:prstGeom prst="rect">
            <a:avLst/>
          </a:prstGeom>
          <a:noFill/>
        </p:spPr>
        <p:txBody>
          <a:bodyPr wrap="square">
            <a:spAutoFit/>
          </a:bodyPr>
          <a:lstStyle/>
          <a:p>
            <a:pPr>
              <a:defRPr b="1" sz="1500">
                <a:solidFill>
                  <a:srgbClr val="34D399"/>
                </a:solidFill>
              </a:defRPr>
            </a:pPr>
            <a:r>
              <a:t>TEOREMA: SATURACIÓN GARANTIZADA</a:t>
            </a:r>
          </a:p>
          <a:p>
            <a:pPr>
              <a:defRPr b="1" sz="1200">
                <a:solidFill>
                  <a:srgbClr val="FFFFFF"/>
                </a:solidFill>
              </a:defRPr>
            </a:pPr>
            <a:r>
              <a:t>¿Puede este circuito entrar en región óhmica?</a:t>
            </a:r>
            <a:br/>
            <a:r>
              <a:t>¡La respuesta matemática es NUNCA!</a:t>
            </a:r>
          </a:p>
          <a:p>
            <a:pPr>
              <a:defRPr sz="1100">
                <a:solidFill>
                  <a:srgbClr val="CBD5E1"/>
                </a:solidFill>
              </a:defRPr>
            </a:pPr>
            <a:r>
              <a:t>• Condición para saturación: V_DS ≥ V_GS - V_GS(th)</a:t>
            </a:r>
          </a:p>
          <a:p>
            <a:pPr>
              <a:defRPr sz="1100">
                <a:solidFill>
                  <a:srgbClr val="CBD5E1"/>
                </a:solidFill>
              </a:defRPr>
            </a:pPr>
            <a:r>
              <a:t>• Sustituyendo V_GS = V_DS: V_DS ≥ V_DS - V_GS(th)</a:t>
            </a:r>
          </a:p>
          <a:p>
            <a:pPr>
              <a:defRPr sz="1100">
                <a:solidFill>
                  <a:srgbClr val="CBD5E1"/>
                </a:solidFill>
              </a:defRPr>
            </a:pPr>
            <a:r>
              <a:t>• Restando V_DS en ambos lados: 0 ≥ - V_GS(th)   &lt;===&gt;   V_GS(th) ≥ 0</a:t>
            </a:r>
          </a:p>
          <a:p>
            <a:pPr>
              <a:defRPr sz="1100">
                <a:solidFill>
                  <a:srgbClr val="CBD5E1"/>
                </a:solidFill>
              </a:defRPr>
            </a:pPr>
            <a:r>
              <a:t>• Conclusión matemática: Como en todo E-MOSFET de canal N el voltaje umbral V_GS(th) es estrictamente positivo (&gt; 0), ¡la condición de saturación se satisface de forma automática e incondicional!</a:t>
            </a:r>
          </a:p>
          <a:p>
            <a:pPr>
              <a:defRPr sz="1100">
                <a:solidFill>
                  <a:srgbClr val="CBD5E1"/>
                </a:solidFill>
              </a:defRPr>
            </a:pPr>
            <a:r>
              <a:t>• Ventaja para amplificación: Es imposible que el diseñador cometa un error y saque el transistor de su zona activa al amplificar.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B3D"/>
          </a:solidFill>
          <a:ln>
            <a:solidFill>
              <a:srgbClr val="0B1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515600" cy="320040"/>
          </a:xfrm>
          <a:prstGeom prst="rect">
            <a:avLst/>
          </a:prstGeom>
          <a:noFill/>
        </p:spPr>
        <p:txBody>
          <a:bodyPr wrap="square">
            <a:spAutoFit/>
          </a:bodyPr>
          <a:lstStyle/>
          <a:p>
            <a:pPr>
              <a:defRPr sz="1100" b="1">
                <a:solidFill>
                  <a:srgbClr val="FFB800"/>
                </a:solidFill>
                <a:latin typeface="Arial"/>
              </a:defRPr>
            </a:pPr>
            <a:r>
              <a:t>PROYECTOS Y CASOS REALES</a:t>
            </a:r>
          </a:p>
        </p:txBody>
      </p:sp>
      <p:sp>
        <p:nvSpPr>
          <p:cNvPr id="4" name="TextBox 3"/>
          <p:cNvSpPr txBox="1"/>
          <p:nvPr/>
        </p:nvSpPr>
        <p:spPr>
          <a:xfrm>
            <a:off x="731520" y="594360"/>
            <a:ext cx="10515600" cy="685800"/>
          </a:xfrm>
          <a:prstGeom prst="rect">
            <a:avLst/>
          </a:prstGeom>
          <a:noFill/>
        </p:spPr>
        <p:txBody>
          <a:bodyPr wrap="square">
            <a:spAutoFit/>
          </a:bodyPr>
          <a:lstStyle/>
          <a:p>
            <a:pPr>
              <a:defRPr sz="2200" b="1">
                <a:solidFill>
                  <a:srgbClr val="FFFFFF"/>
                </a:solidFill>
                <a:latin typeface="Arial"/>
              </a:defRPr>
            </a:pPr>
            <a:r>
              <a:t>13. Aplicación Industrial: Driver de Potencia (Low-Side Switch)</a:t>
            </a:r>
          </a:p>
        </p:txBody>
      </p:sp>
      <p:sp>
        <p:nvSpPr>
          <p:cNvPr id="5" name="Rectangle 4"/>
          <p:cNvSpPr/>
          <p:nvPr/>
        </p:nvSpPr>
        <p:spPr>
          <a:xfrm>
            <a:off x="0" y="6565392"/>
            <a:ext cx="7772400" cy="54864"/>
          </a:xfrm>
          <a:prstGeom prst="rect">
            <a:avLst/>
          </a:prstGeom>
          <a:solidFill>
            <a:srgbClr val="00C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0" y="6565392"/>
            <a:ext cx="4419295" cy="54864"/>
          </a:xfrm>
          <a:prstGeom prst="rect">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601968"/>
            <a:ext cx="10698480" cy="228600"/>
          </a:xfrm>
          <a:prstGeom prst="rect">
            <a:avLst/>
          </a:prstGeom>
          <a:noFill/>
        </p:spPr>
        <p:txBody>
          <a:bodyPr wrap="none">
            <a:spAutoFit/>
          </a:bodyPr>
          <a:lstStyle/>
          <a:p>
            <a:pPr>
              <a:defRPr sz="900">
                <a:solidFill>
                  <a:srgbClr val="94A3B8"/>
                </a:solidFill>
                <a:latin typeface="Arial"/>
              </a:defRPr>
            </a:pPr>
            <a:r>
              <a:t>Institución Universitaria ITM  |  Electrónica Analógica y Laboratorio  |  Docente: Fredy Andrés Torres Muñoz  |  www.itm.edu.co</a:t>
            </a:r>
          </a:p>
        </p:txBody>
      </p:sp>
      <p:pic>
        <p:nvPicPr>
          <p:cNvPr id="8" name="Picture 7" descr="diagrama_driver_potencia.png"/>
          <p:cNvPicPr>
            <a:picLocks noChangeAspect="1"/>
          </p:cNvPicPr>
          <p:nvPr/>
        </p:nvPicPr>
        <p:blipFill>
          <a:blip r:embed="rId2"/>
          <a:stretch>
            <a:fillRect/>
          </a:stretch>
        </p:blipFill>
        <p:spPr>
          <a:xfrm>
            <a:off x="731520" y="1371600"/>
            <a:ext cx="6675120" cy="3471062"/>
          </a:xfrm>
          <a:prstGeom prst="rect">
            <a:avLst/>
          </a:prstGeom>
        </p:spPr>
      </p:pic>
      <p:sp>
        <p:nvSpPr>
          <p:cNvPr id="9" name="Rounded Rectangle 8"/>
          <p:cNvSpPr/>
          <p:nvPr/>
        </p:nvSpPr>
        <p:spPr>
          <a:xfrm>
            <a:off x="7589520" y="1371600"/>
            <a:ext cx="3840480" cy="4937760"/>
          </a:xfrm>
          <a:prstGeom prst="roundRect">
            <a:avLst/>
          </a:prstGeom>
          <a:solidFill>
            <a:srgbClr val="12264D"/>
          </a:solidFill>
          <a:ln w="19050">
            <a:solidFill>
              <a:srgbClr val="00C0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0" y="1554480"/>
            <a:ext cx="3474720" cy="4572000"/>
          </a:xfrm>
          <a:prstGeom prst="rect">
            <a:avLst/>
          </a:prstGeom>
          <a:noFill/>
        </p:spPr>
        <p:txBody>
          <a:bodyPr wrap="square">
            <a:spAutoFit/>
          </a:bodyPr>
          <a:lstStyle/>
          <a:p>
            <a:pPr>
              <a:defRPr b="1" sz="1400">
                <a:solidFill>
                  <a:srgbClr val="FFB800"/>
                </a:solidFill>
              </a:defRPr>
            </a:pPr>
            <a:r>
              <a:t>DISEÑO DEL CIRCUITO REAL</a:t>
            </a:r>
          </a:p>
          <a:p>
            <a:pPr>
              <a:defRPr sz="1000">
                <a:solidFill>
                  <a:srgbClr val="CBD5E1"/>
                </a:solidFill>
              </a:defRPr>
            </a:pPr>
            <a:r>
              <a:t>• 1. MOSFET Logic-Level (IRLZ44N): Un MOSFET convencional (IRF540) necesita V_GS = 10 V para encender del todo. Con 3.3 V de un ESP32 disiparía calor excesivo y se quemaría. ¡Los Logic-Level operan con 3.3V y 5V!</a:t>
            </a:r>
          </a:p>
          <a:p>
            <a:pPr>
              <a:defRPr sz="1000">
                <a:solidFill>
                  <a:srgbClr val="CBD5E1"/>
                </a:solidFill>
              </a:defRPr>
            </a:pPr>
            <a:r>
              <a:t>• 2. Diodo Flyback (1N5822): Toda carga inductiva (motor, relé) genera un pico de tensión destructor -L(di/dt) al apagarse. El diodo recircula esa corriente protegiendo el Drenador.</a:t>
            </a:r>
          </a:p>
          <a:p>
            <a:pPr>
              <a:defRPr sz="1000">
                <a:solidFill>
                  <a:srgbClr val="CBD5E1"/>
                </a:solidFill>
              </a:defRPr>
            </a:pPr>
            <a:r>
              <a:t>• 3. Resistencia Serie R_G (100 Ω): Amortigua el pico de corriente de carga de la capacitancia parásita de compuerta C_iss, protegiendo el pin del micro.</a:t>
            </a:r>
          </a:p>
          <a:p>
            <a:pPr>
              <a:defRPr sz="1000">
                <a:solidFill>
                  <a:srgbClr val="CBD5E1"/>
                </a:solidFill>
              </a:defRPr>
            </a:pPr>
            <a:r>
              <a:t>• 4. Resistencia Pull-Down R_PD (100 kΩ): Fija la compuerta a 0 V durante el arranque del microcontrolador cuando los pines están en alta impedancia.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B3D"/>
          </a:solidFill>
          <a:ln>
            <a:solidFill>
              <a:srgbClr val="0B1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515600" cy="320040"/>
          </a:xfrm>
          <a:prstGeom prst="rect">
            <a:avLst/>
          </a:prstGeom>
          <a:noFill/>
        </p:spPr>
        <p:txBody>
          <a:bodyPr wrap="square">
            <a:spAutoFit/>
          </a:bodyPr>
          <a:lstStyle/>
          <a:p>
            <a:pPr>
              <a:defRPr sz="1100" b="1">
                <a:solidFill>
                  <a:srgbClr val="FFB800"/>
                </a:solidFill>
                <a:latin typeface="Arial"/>
              </a:defRPr>
            </a:pPr>
            <a:r>
              <a:t>ELECTRÓNICA DE POTENCIA</a:t>
            </a:r>
          </a:p>
        </p:txBody>
      </p:sp>
      <p:sp>
        <p:nvSpPr>
          <p:cNvPr id="4" name="TextBox 3"/>
          <p:cNvSpPr txBox="1"/>
          <p:nvPr/>
        </p:nvSpPr>
        <p:spPr>
          <a:xfrm>
            <a:off x="731520" y="594360"/>
            <a:ext cx="10515600" cy="685800"/>
          </a:xfrm>
          <a:prstGeom prst="rect">
            <a:avLst/>
          </a:prstGeom>
          <a:noFill/>
        </p:spPr>
        <p:txBody>
          <a:bodyPr wrap="square">
            <a:spAutoFit/>
          </a:bodyPr>
          <a:lstStyle/>
          <a:p>
            <a:pPr>
              <a:defRPr sz="2200" b="1">
                <a:solidFill>
                  <a:srgbClr val="FFFFFF"/>
                </a:solidFill>
                <a:latin typeface="Arial"/>
              </a:defRPr>
            </a:pPr>
            <a:r>
              <a:t>14. Eficiencia Térmica en Conmutación: BJT vs MOSFET</a:t>
            </a:r>
          </a:p>
        </p:txBody>
      </p:sp>
      <p:sp>
        <p:nvSpPr>
          <p:cNvPr id="5" name="Rectangle 4"/>
          <p:cNvSpPr/>
          <p:nvPr/>
        </p:nvSpPr>
        <p:spPr>
          <a:xfrm>
            <a:off x="0" y="6565392"/>
            <a:ext cx="7772400" cy="54864"/>
          </a:xfrm>
          <a:prstGeom prst="rect">
            <a:avLst/>
          </a:prstGeom>
          <a:solidFill>
            <a:srgbClr val="00C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0" y="6565392"/>
            <a:ext cx="4419295" cy="54864"/>
          </a:xfrm>
          <a:prstGeom prst="rect">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601968"/>
            <a:ext cx="10698480" cy="228600"/>
          </a:xfrm>
          <a:prstGeom prst="rect">
            <a:avLst/>
          </a:prstGeom>
          <a:noFill/>
        </p:spPr>
        <p:txBody>
          <a:bodyPr wrap="none">
            <a:spAutoFit/>
          </a:bodyPr>
          <a:lstStyle/>
          <a:p>
            <a:pPr>
              <a:defRPr sz="900">
                <a:solidFill>
                  <a:srgbClr val="94A3B8"/>
                </a:solidFill>
                <a:latin typeface="Arial"/>
              </a:defRPr>
            </a:pPr>
            <a:r>
              <a:t>Institución Universitaria ITM  |  Electrónica Analógica y Laboratorio  |  Docente: Fredy Andrés Torres Muñoz  |  www.itm.edu.co</a:t>
            </a:r>
          </a:p>
        </p:txBody>
      </p:sp>
      <p:sp>
        <p:nvSpPr>
          <p:cNvPr id="8" name="Rounded Rectangle 7"/>
          <p:cNvSpPr/>
          <p:nvPr/>
        </p:nvSpPr>
        <p:spPr>
          <a:xfrm>
            <a:off x="731520" y="1463040"/>
            <a:ext cx="5120640" cy="4846320"/>
          </a:xfrm>
          <a:prstGeom prst="roundRect">
            <a:avLst/>
          </a:prstGeom>
          <a:solidFill>
            <a:srgbClr val="12264D"/>
          </a:solidFill>
          <a:ln w="1905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45920"/>
            <a:ext cx="4754880" cy="4389120"/>
          </a:xfrm>
          <a:prstGeom prst="rect">
            <a:avLst/>
          </a:prstGeom>
          <a:noFill/>
        </p:spPr>
        <p:txBody>
          <a:bodyPr wrap="square">
            <a:spAutoFit/>
          </a:bodyPr>
          <a:lstStyle/>
          <a:p>
            <a:pPr>
              <a:defRPr b="1" sz="1500">
                <a:solidFill>
                  <a:srgbClr val="F87171"/>
                </a:solidFill>
              </a:defRPr>
            </a:pPr>
            <a:r>
              <a:t>BJT DE POTENCIA (Ej. TIP35C a 10 A)</a:t>
            </a:r>
          </a:p>
          <a:p>
            <a:pPr>
              <a:defRPr sz="1100">
                <a:solidFill>
                  <a:srgbClr val="CBD5E1"/>
                </a:solidFill>
              </a:defRPr>
            </a:pPr>
            <a:r>
              <a:t>• Caída de saturación: V_CE(sat) ≈ 1.2 V constante.</a:t>
            </a:r>
          </a:p>
          <a:p>
            <a:pPr>
              <a:defRPr sz="1100">
                <a:solidFill>
                  <a:srgbClr val="CBD5E1"/>
                </a:solidFill>
              </a:defRPr>
            </a:pPr>
            <a:r>
              <a:t>• Pérdidas de conducción: P_cond = I_C · V_CE(sat) = 10 A · 1.2 V = 12 Watts.</a:t>
            </a:r>
          </a:p>
          <a:p>
            <a:pPr>
              <a:defRPr sz="1100">
                <a:solidFill>
                  <a:srgbClr val="CBD5E1"/>
                </a:solidFill>
              </a:defRPr>
            </a:pPr>
            <a:r>
              <a:t>• Requerimiento térmico: Disipador de aluminio masivo (R_th &lt; 5 °C/W) y ventilador forzado.</a:t>
            </a:r>
          </a:p>
          <a:p>
            <a:pPr>
              <a:defRPr sz="1100">
                <a:solidFill>
                  <a:srgbClr val="CBD5E1"/>
                </a:solidFill>
              </a:defRPr>
            </a:pPr>
            <a:r>
              <a:t>• Pérdida en la base: Con β = 20, requiere I_B = 0.5 A continuos entregados por la fuente de control.</a:t>
            </a:r>
          </a:p>
          <a:p>
            <a:pPr>
              <a:defRPr sz="1100">
                <a:solidFill>
                  <a:srgbClr val="CBD5E1"/>
                </a:solidFill>
              </a:defRPr>
            </a:pPr>
            <a:r>
              <a:t>• Riesgo: Hot-spotting y embalamiento térmico en paralelo.</a:t>
            </a:r>
          </a:p>
        </p:txBody>
      </p:sp>
      <p:sp>
        <p:nvSpPr>
          <p:cNvPr id="10" name="Rounded Rectangle 9"/>
          <p:cNvSpPr/>
          <p:nvPr/>
        </p:nvSpPr>
        <p:spPr>
          <a:xfrm>
            <a:off x="6217920" y="1463040"/>
            <a:ext cx="5212080" cy="4846320"/>
          </a:xfrm>
          <a:prstGeom prst="roundRect">
            <a:avLst/>
          </a:prstGeom>
          <a:solidFill>
            <a:srgbClr val="12264D"/>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45920"/>
            <a:ext cx="4846320" cy="4389120"/>
          </a:xfrm>
          <a:prstGeom prst="rect">
            <a:avLst/>
          </a:prstGeom>
          <a:noFill/>
        </p:spPr>
        <p:txBody>
          <a:bodyPr wrap="square">
            <a:spAutoFit/>
          </a:bodyPr>
          <a:lstStyle/>
          <a:p>
            <a:pPr>
              <a:defRPr b="1" sz="1500">
                <a:solidFill>
                  <a:srgbClr val="34D399"/>
                </a:solidFill>
              </a:defRPr>
            </a:pPr>
            <a:r>
              <a:t>MOSFET DE POTENCIA (Ej. IPP015N04N a 10 A)</a:t>
            </a:r>
          </a:p>
          <a:p>
            <a:pPr>
              <a:defRPr sz="1100">
                <a:solidFill>
                  <a:srgbClr val="CBD5E1"/>
                </a:solidFill>
              </a:defRPr>
            </a:pPr>
            <a:r>
              <a:t>• Resistencia en conducción: R_DS(on) = 1.5 mΩ = 0.0015 Ω.</a:t>
            </a:r>
          </a:p>
          <a:p>
            <a:pPr>
              <a:defRPr sz="1100">
                <a:solidFill>
                  <a:srgbClr val="CBD5E1"/>
                </a:solidFill>
              </a:defRPr>
            </a:pPr>
            <a:r>
              <a:t>• Pérdidas de conducción: P_cond = I_D² · R_DS(on) = (10 A)² · 0.0015 Ω = 0.15 Watts!</a:t>
            </a:r>
          </a:p>
          <a:p>
            <a:pPr>
              <a:defRPr sz="1100">
                <a:solidFill>
                  <a:srgbClr val="CBD5E1"/>
                </a:solidFill>
              </a:defRPr>
            </a:pPr>
            <a:r>
              <a:t>• Requerimiento térmico: ¡No necesita disipador! Disipa el calor por las pistas de cobre de la PCB.</a:t>
            </a:r>
          </a:p>
          <a:p>
            <a:pPr>
              <a:defRPr sz="1100">
                <a:solidFill>
                  <a:srgbClr val="CBD5E1"/>
                </a:solidFill>
              </a:defRPr>
            </a:pPr>
            <a:r>
              <a:t>• Pérdida en la compuerta: Cero en estado estacionario (I_G = 0 A).</a:t>
            </a:r>
          </a:p>
          <a:p>
            <a:pPr>
              <a:defRPr sz="1100">
                <a:solidFill>
                  <a:srgbClr val="CBD5E1"/>
                </a:solidFill>
              </a:defRPr>
            </a:pPr>
            <a:r>
              <a:t>• Ventaja en paralelo: R_DS(on) sube con la temperatura, repartiendo automáticamente la corriente entre transistores.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B3D"/>
          </a:solidFill>
          <a:ln>
            <a:solidFill>
              <a:srgbClr val="0B1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515600" cy="320040"/>
          </a:xfrm>
          <a:prstGeom prst="rect">
            <a:avLst/>
          </a:prstGeom>
          <a:noFill/>
        </p:spPr>
        <p:txBody>
          <a:bodyPr wrap="square">
            <a:spAutoFit/>
          </a:bodyPr>
          <a:lstStyle/>
          <a:p>
            <a:pPr>
              <a:defRPr sz="1100" b="1">
                <a:solidFill>
                  <a:srgbClr val="FFB800"/>
                </a:solidFill>
                <a:latin typeface="Arial"/>
              </a:defRPr>
            </a:pPr>
            <a:r>
              <a:t>EVALUACIÓN FORMATIVA Y CIERRE</a:t>
            </a:r>
          </a:p>
        </p:txBody>
      </p:sp>
      <p:sp>
        <p:nvSpPr>
          <p:cNvPr id="4" name="TextBox 3"/>
          <p:cNvSpPr txBox="1"/>
          <p:nvPr/>
        </p:nvSpPr>
        <p:spPr>
          <a:xfrm>
            <a:off x="731520" y="594360"/>
            <a:ext cx="10515600" cy="685800"/>
          </a:xfrm>
          <a:prstGeom prst="rect">
            <a:avLst/>
          </a:prstGeom>
          <a:noFill/>
        </p:spPr>
        <p:txBody>
          <a:bodyPr wrap="square">
            <a:spAutoFit/>
          </a:bodyPr>
          <a:lstStyle/>
          <a:p>
            <a:pPr>
              <a:defRPr sz="2200" b="1">
                <a:solidFill>
                  <a:srgbClr val="FFFFFF"/>
                </a:solidFill>
                <a:latin typeface="Arial"/>
              </a:defRPr>
            </a:pPr>
            <a:r>
              <a:t>15. Taller Reto de Laboratorio y Conclusiones de Clase</a:t>
            </a:r>
          </a:p>
        </p:txBody>
      </p:sp>
      <p:sp>
        <p:nvSpPr>
          <p:cNvPr id="5" name="Rectangle 4"/>
          <p:cNvSpPr/>
          <p:nvPr/>
        </p:nvSpPr>
        <p:spPr>
          <a:xfrm>
            <a:off x="0" y="6565392"/>
            <a:ext cx="7772400" cy="54864"/>
          </a:xfrm>
          <a:prstGeom prst="rect">
            <a:avLst/>
          </a:prstGeom>
          <a:solidFill>
            <a:srgbClr val="00C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0" y="6565392"/>
            <a:ext cx="4419295" cy="54864"/>
          </a:xfrm>
          <a:prstGeom prst="rect">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601968"/>
            <a:ext cx="10698480" cy="228600"/>
          </a:xfrm>
          <a:prstGeom prst="rect">
            <a:avLst/>
          </a:prstGeom>
          <a:noFill/>
        </p:spPr>
        <p:txBody>
          <a:bodyPr wrap="none">
            <a:spAutoFit/>
          </a:bodyPr>
          <a:lstStyle/>
          <a:p>
            <a:pPr>
              <a:defRPr sz="900">
                <a:solidFill>
                  <a:srgbClr val="94A3B8"/>
                </a:solidFill>
                <a:latin typeface="Arial"/>
              </a:defRPr>
            </a:pPr>
            <a:r>
              <a:t>Institución Universitaria ITM  |  Electrónica Analógica y Laboratorio  |  Docente: Fredy Andrés Torres Muñoz  |  www.itm.edu.co</a:t>
            </a:r>
          </a:p>
        </p:txBody>
      </p:sp>
      <p:sp>
        <p:nvSpPr>
          <p:cNvPr id="8" name="Rounded Rectangle 7"/>
          <p:cNvSpPr/>
          <p:nvPr/>
        </p:nvSpPr>
        <p:spPr>
          <a:xfrm>
            <a:off x="731520" y="1463040"/>
            <a:ext cx="5120640" cy="4846320"/>
          </a:xfrm>
          <a:prstGeom prst="roundRect">
            <a:avLst/>
          </a:prstGeom>
          <a:solidFill>
            <a:srgbClr val="12264D"/>
          </a:solidFill>
          <a:ln w="19050">
            <a:solidFill>
              <a:srgbClr val="FFB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45920"/>
            <a:ext cx="4754880" cy="4389120"/>
          </a:xfrm>
          <a:prstGeom prst="rect">
            <a:avLst/>
          </a:prstGeom>
          <a:noFill/>
        </p:spPr>
        <p:txBody>
          <a:bodyPr wrap="square">
            <a:spAutoFit/>
          </a:bodyPr>
          <a:lstStyle/>
          <a:p>
            <a:pPr>
              <a:defRPr b="1" sz="1500">
                <a:solidFill>
                  <a:srgbClr val="FFB800"/>
                </a:solidFill>
              </a:defRPr>
            </a:pPr>
            <a:r>
              <a:t>TALLER RETO PARA EL LABORATORIO ITM</a:t>
            </a:r>
          </a:p>
          <a:p>
            <a:pPr>
              <a:defRPr b="1" sz="1200">
                <a:solidFill>
                  <a:srgbClr val="FFFFFF"/>
                </a:solidFill>
              </a:defRPr>
            </a:pPr>
            <a:r>
              <a:t>Enunciado del problema de diseño:</a:t>
            </a:r>
          </a:p>
          <a:p>
            <a:pPr>
              <a:defRPr sz="1100">
                <a:solidFill>
                  <a:srgbClr val="CBD5E1"/>
                </a:solidFill>
              </a:defRPr>
            </a:pPr>
            <a:r>
              <a:t>• Objetivo: Diseñar un controlador de intensidad luminosa (PWM) para una tira LED de 12 V / 3 A usando un ESP32 (salida 3.3 V).</a:t>
            </a:r>
          </a:p>
          <a:p>
            <a:pPr>
              <a:defRPr sz="1100">
                <a:solidFill>
                  <a:srgbClr val="CBD5E1"/>
                </a:solidFill>
              </a:defRPr>
            </a:pPr>
            <a:r>
              <a:t>• Tareas a entregar: </a:t>
            </a:r>
            <a:br/>
            <a:r>
              <a:t>1. Seleccionar entre el 2N7000, IRF540N e IRLZ44N justificando con la hoja de datos.</a:t>
            </a:r>
            <a:br/>
            <a:r>
              <a:t>2. Calcular el valor de la resistencia de compuerta R_G para una frecuencia PWM de 20 kHz sabiendo que C_iss = 1700 pF.</a:t>
            </a:r>
            <a:br/>
            <a:r>
              <a:t>3. Calcular la disipación térmica y verificar si se requiere disipador.</a:t>
            </a:r>
            <a:br/>
            <a:r>
              <a:t>4. Simular en LTspice / Proteus y verificar la forma de onda de conmutación.</a:t>
            </a:r>
          </a:p>
        </p:txBody>
      </p:sp>
      <p:sp>
        <p:nvSpPr>
          <p:cNvPr id="10" name="Rounded Rectangle 9"/>
          <p:cNvSpPr/>
          <p:nvPr/>
        </p:nvSpPr>
        <p:spPr>
          <a:xfrm>
            <a:off x="6217920" y="1463040"/>
            <a:ext cx="5212080" cy="4846320"/>
          </a:xfrm>
          <a:prstGeom prst="roundRect">
            <a:avLst/>
          </a:prstGeom>
          <a:solidFill>
            <a:srgbClr val="12264D"/>
          </a:solidFill>
          <a:ln w="19050">
            <a:solidFill>
              <a:srgbClr val="00C0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45920"/>
            <a:ext cx="4846320" cy="4389120"/>
          </a:xfrm>
          <a:prstGeom prst="rect">
            <a:avLst/>
          </a:prstGeom>
          <a:noFill/>
        </p:spPr>
        <p:txBody>
          <a:bodyPr wrap="square">
            <a:spAutoFit/>
          </a:bodyPr>
          <a:lstStyle/>
          <a:p>
            <a:pPr>
              <a:defRPr b="1" sz="1500">
                <a:solidFill>
                  <a:srgbClr val="00C0F3"/>
                </a:solidFill>
              </a:defRPr>
            </a:pPr>
            <a:r>
              <a:t>3 REGLAS DE ORO PARA EL INGENIERO ITM</a:t>
            </a:r>
          </a:p>
          <a:p>
            <a:pPr>
              <a:defRPr sz="1100">
                <a:solidFill>
                  <a:srgbClr val="FFFFFF"/>
                </a:solidFill>
              </a:defRPr>
            </a:pPr>
            <a:r>
              <a:t>• 1. El Voltaje Manda: La compuerta no consume corriente (I_G = 0 A); todo se controla por campo eléctrico (V_GS).</a:t>
            </a:r>
          </a:p>
          <a:p>
            <a:pPr>
              <a:defRPr sz="1100">
                <a:solidFill>
                  <a:srgbClr val="FFFFFF"/>
                </a:solidFill>
              </a:defRPr>
            </a:pPr>
            <a:r>
              <a:t>• 2. Conozca su Región: Para amplificar linealmente opere en SATURACIÓN (V_DS ≥ V_GS - V_th). Para conmutar cargas con mínima pérdida opere en ÓHMICA (V_DS mínimo, R_DS(on) mínimo).</a:t>
            </a:r>
          </a:p>
          <a:p>
            <a:pPr>
              <a:defRPr sz="1100">
                <a:solidFill>
                  <a:srgbClr val="FFFFFF"/>
                </a:solidFill>
              </a:defRPr>
            </a:pPr>
            <a:r>
              <a:t>• 3. Respete el Óxido: El SiO2 es nanométrico. Proteja siempre contra descargas electrostáticas (ESD) y picos de sobretensión inductiva.</a:t>
            </a:r>
          </a:p>
          <a:p>
            <a:br/>
            <a:pPr>
              <a:defRPr b="1" sz="1300">
                <a:solidFill>
                  <a:srgbClr val="FFB800"/>
                </a:solidFill>
              </a:defRPr>
            </a:pPr>
            <a:r>
              <a:t>¿Preguntas, dudas o inquietudes sobre el taller?</a:t>
            </a:r>
            <a:br/>
            <a:r>
              <a:t>¡Nos vemos en el banco de laboratorio!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